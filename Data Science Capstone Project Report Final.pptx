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6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7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5e6212e3d14d9a" /><Relationship Type="http://schemas.openxmlformats.org/officeDocument/2006/relationships/extended-properties" Target="/docProps/app.xml" Id="R7e94cfda26774528" /><Relationship Type="http://schemas.openxmlformats.org/officeDocument/2006/relationships/officeDocument" Target="/ppt/presentation.xml" Id="R7b383047a3ba4c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155647764f4b9b"/>
  </p:sldMasterIdLst>
  <p:notesMasterIdLst>
    <p:notesMasterId xmlns:r="http://schemas.openxmlformats.org/officeDocument/2006/relationships" r:id="R7ea9f91f3f824c74"/>
  </p:notesMasterIdLst>
  <p:sldIdLst>
    <p:sldId xmlns:r="http://schemas.openxmlformats.org/officeDocument/2006/relationships" id="256" r:id="Ree8b0f418cc74d62"/>
    <p:sldId xmlns:r="http://schemas.openxmlformats.org/officeDocument/2006/relationships" id="257" r:id="Re1cf1851d3334c9a"/>
    <p:sldId xmlns:r="http://schemas.openxmlformats.org/officeDocument/2006/relationships" id="258" r:id="R16dfbd79c0044f86"/>
    <p:sldId xmlns:r="http://schemas.openxmlformats.org/officeDocument/2006/relationships" id="259" r:id="R206807892fc041bd"/>
    <p:sldId xmlns:r="http://schemas.openxmlformats.org/officeDocument/2006/relationships" id="260" r:id="R151bc822cb824222"/>
    <p:sldId xmlns:r="http://schemas.openxmlformats.org/officeDocument/2006/relationships" id="261" r:id="Rca3ae30cbd8c47f6"/>
    <p:sldId xmlns:r="http://schemas.openxmlformats.org/officeDocument/2006/relationships" id="262" r:id="R6a30ad6cc05840b2"/>
    <p:sldId xmlns:r="http://schemas.openxmlformats.org/officeDocument/2006/relationships" id="263" r:id="R8c0a1e2d5e3c49b1"/>
    <p:sldId xmlns:r="http://schemas.openxmlformats.org/officeDocument/2006/relationships" id="264" r:id="Rf3690a17f24a4210"/>
    <p:sldId xmlns:r="http://schemas.openxmlformats.org/officeDocument/2006/relationships" id="265" r:id="R190eeb510a124dcb"/>
    <p:sldId xmlns:r="http://schemas.openxmlformats.org/officeDocument/2006/relationships" id="266" r:id="R0fb8be9aac4445f1"/>
    <p:sldId xmlns:r="http://schemas.openxmlformats.org/officeDocument/2006/relationships" id="267" r:id="R6f58ca7f9c664071"/>
    <p:sldId xmlns:r="http://schemas.openxmlformats.org/officeDocument/2006/relationships" id="268" r:id="Ra267537f66de4601"/>
    <p:sldId xmlns:r="http://schemas.openxmlformats.org/officeDocument/2006/relationships" id="269" r:id="R983cedd578074c82"/>
    <p:sldId xmlns:r="http://schemas.openxmlformats.org/officeDocument/2006/relationships" id="270" r:id="R57d7ba113e644265"/>
    <p:sldId xmlns:r="http://schemas.openxmlformats.org/officeDocument/2006/relationships" id="271" r:id="R00e3ef50d80d4670"/>
    <p:sldId xmlns:r="http://schemas.openxmlformats.org/officeDocument/2006/relationships" id="272" r:id="Re0696b49dc5e426d"/>
    <p:sldId xmlns:r="http://schemas.openxmlformats.org/officeDocument/2006/relationships" id="273" r:id="R4ee541244dfd43f3"/>
    <p:sldId xmlns:r="http://schemas.openxmlformats.org/officeDocument/2006/relationships" id="274" r:id="Rbde0f80230884e34"/>
    <p:sldId xmlns:r="http://schemas.openxmlformats.org/officeDocument/2006/relationships" id="275" r:id="R0badddcf50fa4eaf"/>
    <p:sldId xmlns:r="http://schemas.openxmlformats.org/officeDocument/2006/relationships" id="276" r:id="Rb4c89afc522d45bf"/>
    <p:sldId xmlns:r="http://schemas.openxmlformats.org/officeDocument/2006/relationships" id="277" r:id="R0fec73573d644936"/>
    <p:sldId xmlns:r="http://schemas.openxmlformats.org/officeDocument/2006/relationships" id="278" r:id="Rc36ab1e59f544176"/>
    <p:sldId xmlns:r="http://schemas.openxmlformats.org/officeDocument/2006/relationships" id="279" r:id="R4a7a8991c8fc43cf"/>
    <p:sldId xmlns:r="http://schemas.openxmlformats.org/officeDocument/2006/relationships" id="280" r:id="Rae1af592b3924f28"/>
    <p:sldId xmlns:r="http://schemas.openxmlformats.org/officeDocument/2006/relationships" id="281" r:id="R21c1ac3b4d9b480c"/>
    <p:sldId xmlns:r="http://schemas.openxmlformats.org/officeDocument/2006/relationships" id="282" r:id="R85656f57843a43f1"/>
    <p:sldId xmlns:r="http://schemas.openxmlformats.org/officeDocument/2006/relationships" id="283" r:id="R266c1edca95b47eb"/>
    <p:sldId xmlns:r="http://schemas.openxmlformats.org/officeDocument/2006/relationships" id="284" r:id="Re5a71d2efd084d3e"/>
    <p:sldId xmlns:r="http://schemas.openxmlformats.org/officeDocument/2006/relationships" id="285" r:id="R14db89a0de444d45"/>
    <p:sldId xmlns:r="http://schemas.openxmlformats.org/officeDocument/2006/relationships" id="286" r:id="R03c93a3ac46e45b3"/>
    <p:sldId xmlns:r="http://schemas.openxmlformats.org/officeDocument/2006/relationships" id="287" r:id="R231ca36a2c994dff"/>
    <p:sldId xmlns:r="http://schemas.openxmlformats.org/officeDocument/2006/relationships" id="288" r:id="R761aa62d5fea4c7c"/>
    <p:sldId xmlns:r="http://schemas.openxmlformats.org/officeDocument/2006/relationships" id="289" r:id="Rb3eb9aeb6f5f4b13"/>
    <p:sldId xmlns:r="http://schemas.openxmlformats.org/officeDocument/2006/relationships" id="290" r:id="R4ab97d7ca45b4ec1"/>
    <p:sldId xmlns:r="http://schemas.openxmlformats.org/officeDocument/2006/relationships" id="291" r:id="Rcbfe89d1e41c4b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e0778cf93e4f59" /><Relationship Type="http://schemas.openxmlformats.org/officeDocument/2006/relationships/slideMaster" Target="/ppt/slideMasters/slideMaster1.xml" Id="R8c155647764f4b9b" /><Relationship Type="http://schemas.openxmlformats.org/officeDocument/2006/relationships/notesMaster" Target="/ppt/notesMasters/notesMaster1.xml" Id="R7ea9f91f3f824c74" /><Relationship Type="http://schemas.openxmlformats.org/officeDocument/2006/relationships/presProps" Target="/ppt/presProps.xml" Id="R3b39fbda44064be2" /><Relationship Type="http://schemas.openxmlformats.org/officeDocument/2006/relationships/tableStyles" Target="/ppt/tableStyles.xml" Id="Rb4d9210470ba4c55" /><Relationship Type="http://schemas.openxmlformats.org/officeDocument/2006/relationships/slide" Target="/ppt/slides/slide1.xml" Id="Ree8b0f418cc74d62" /><Relationship Type="http://schemas.openxmlformats.org/officeDocument/2006/relationships/slide" Target="/ppt/slides/slide2.xml" Id="Re1cf1851d3334c9a" /><Relationship Type="http://schemas.openxmlformats.org/officeDocument/2006/relationships/slide" Target="/ppt/slides/slide3.xml" Id="R16dfbd79c0044f86" /><Relationship Type="http://schemas.openxmlformats.org/officeDocument/2006/relationships/slide" Target="/ppt/slides/slide4.xml" Id="R206807892fc041bd" /><Relationship Type="http://schemas.openxmlformats.org/officeDocument/2006/relationships/slide" Target="/ppt/slides/slide5.xml" Id="R151bc822cb824222" /><Relationship Type="http://schemas.openxmlformats.org/officeDocument/2006/relationships/slide" Target="/ppt/slides/slide6.xml" Id="Rca3ae30cbd8c47f6" /><Relationship Type="http://schemas.openxmlformats.org/officeDocument/2006/relationships/slide" Target="/ppt/slides/slide7.xml" Id="R6a30ad6cc05840b2" /><Relationship Type="http://schemas.openxmlformats.org/officeDocument/2006/relationships/slide" Target="/ppt/slides/slide8.xml" Id="R8c0a1e2d5e3c49b1" /><Relationship Type="http://schemas.openxmlformats.org/officeDocument/2006/relationships/slide" Target="/ppt/slides/slide9.xml" Id="Rf3690a17f24a4210" /><Relationship Type="http://schemas.openxmlformats.org/officeDocument/2006/relationships/slide" Target="/ppt/slides/slide10.xml" Id="R190eeb510a124dcb" /><Relationship Type="http://schemas.openxmlformats.org/officeDocument/2006/relationships/slide" Target="/ppt/slides/slide11.xml" Id="R0fb8be9aac4445f1" /><Relationship Type="http://schemas.openxmlformats.org/officeDocument/2006/relationships/slide" Target="/ppt/slides/slide12.xml" Id="R6f58ca7f9c664071" /><Relationship Type="http://schemas.openxmlformats.org/officeDocument/2006/relationships/slide" Target="/ppt/slides/slide13.xml" Id="Ra267537f66de4601" /><Relationship Type="http://schemas.openxmlformats.org/officeDocument/2006/relationships/slide" Target="/ppt/slides/slide14.xml" Id="R983cedd578074c82" /><Relationship Type="http://schemas.openxmlformats.org/officeDocument/2006/relationships/slide" Target="/ppt/slides/slide15.xml" Id="R57d7ba113e644265" /><Relationship Type="http://schemas.openxmlformats.org/officeDocument/2006/relationships/slide" Target="/ppt/slides/slide16.xml" Id="R00e3ef50d80d4670" /><Relationship Type="http://schemas.openxmlformats.org/officeDocument/2006/relationships/slide" Target="/ppt/slides/slide17.xml" Id="Re0696b49dc5e426d" /><Relationship Type="http://schemas.openxmlformats.org/officeDocument/2006/relationships/slide" Target="/ppt/slides/slide18.xml" Id="R4ee541244dfd43f3" /><Relationship Type="http://schemas.openxmlformats.org/officeDocument/2006/relationships/slide" Target="/ppt/slides/slide19.xml" Id="Rbde0f80230884e34" /><Relationship Type="http://schemas.openxmlformats.org/officeDocument/2006/relationships/slide" Target="/ppt/slides/slide20.xml" Id="R0badddcf50fa4eaf" /><Relationship Type="http://schemas.openxmlformats.org/officeDocument/2006/relationships/slide" Target="/ppt/slides/slide21.xml" Id="Rb4c89afc522d45bf" /><Relationship Type="http://schemas.openxmlformats.org/officeDocument/2006/relationships/slide" Target="/ppt/slides/slide22.xml" Id="R0fec73573d644936" /><Relationship Type="http://schemas.openxmlformats.org/officeDocument/2006/relationships/slide" Target="/ppt/slides/slide23.xml" Id="Rc36ab1e59f544176" /><Relationship Type="http://schemas.openxmlformats.org/officeDocument/2006/relationships/slide" Target="/ppt/slides/slide24.xml" Id="R4a7a8991c8fc43cf" /><Relationship Type="http://schemas.openxmlformats.org/officeDocument/2006/relationships/slide" Target="/ppt/slides/slide25.xml" Id="Rae1af592b3924f28" /><Relationship Type="http://schemas.openxmlformats.org/officeDocument/2006/relationships/slide" Target="/ppt/slides/slide26.xml" Id="R21c1ac3b4d9b480c" /><Relationship Type="http://schemas.openxmlformats.org/officeDocument/2006/relationships/slide" Target="/ppt/slides/slide27.xml" Id="R85656f57843a43f1" /><Relationship Type="http://schemas.openxmlformats.org/officeDocument/2006/relationships/slide" Target="/ppt/slides/slide28.xml" Id="R266c1edca95b47eb" /><Relationship Type="http://schemas.openxmlformats.org/officeDocument/2006/relationships/slide" Target="/ppt/slides/slide29.xml" Id="Re5a71d2efd084d3e" /><Relationship Type="http://schemas.openxmlformats.org/officeDocument/2006/relationships/slide" Target="/ppt/slides/slide30.xml" Id="R14db89a0de444d45" /><Relationship Type="http://schemas.openxmlformats.org/officeDocument/2006/relationships/slide" Target="/ppt/slides/slide31.xml" Id="R03c93a3ac46e45b3" /><Relationship Type="http://schemas.openxmlformats.org/officeDocument/2006/relationships/slide" Target="/ppt/slides/slide32.xml" Id="R231ca36a2c994dff" /><Relationship Type="http://schemas.openxmlformats.org/officeDocument/2006/relationships/slide" Target="/ppt/slides/slide33.xml" Id="R761aa62d5fea4c7c" /><Relationship Type="http://schemas.openxmlformats.org/officeDocument/2006/relationships/slide" Target="/ppt/slides/slide34.xml" Id="Rb3eb9aeb6f5f4b13" /><Relationship Type="http://schemas.openxmlformats.org/officeDocument/2006/relationships/slide" Target="/ppt/slides/slide35.xml" Id="R4ab97d7ca45b4ec1" /><Relationship Type="http://schemas.openxmlformats.org/officeDocument/2006/relationships/slide" Target="/ppt/slides/slide36.xml" Id="Rcbfe89d1e41c4b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353c8820d941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366ff10e5844ee" /><Relationship Type="http://schemas.openxmlformats.org/officeDocument/2006/relationships/notesMaster" Target="/ppt/notesMasters/notesMaster1.xml" Id="R3bafbc9aa72542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7e088cc2914301" /><Relationship Type="http://schemas.openxmlformats.org/officeDocument/2006/relationships/notesMaster" Target="/ppt/notesMasters/notesMaster1.xml" Id="Ra562ae91f1c849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e0fcb3d2bb4668" /><Relationship Type="http://schemas.openxmlformats.org/officeDocument/2006/relationships/notesMaster" Target="/ppt/notesMasters/notesMaster1.xml" Id="R98eb34a79f814e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edaaa4bb884848" /><Relationship Type="http://schemas.openxmlformats.org/officeDocument/2006/relationships/notesMaster" Target="/ppt/notesMasters/notesMaster1.xml" Id="R591cd73d40db4b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7685afbf9d4309" /><Relationship Type="http://schemas.openxmlformats.org/officeDocument/2006/relationships/notesMaster" Target="/ppt/notesMasters/notesMaster1.xml" Id="R5f3b4cfcdebf4f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fe17f0d7694fe9" /><Relationship Type="http://schemas.openxmlformats.org/officeDocument/2006/relationships/notesMaster" Target="/ppt/notesMasters/notesMaster1.xml" Id="R00e4dbe51dbd45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2fdb0a2f2d41a6" /><Relationship Type="http://schemas.openxmlformats.org/officeDocument/2006/relationships/notesMaster" Target="/ppt/notesMasters/notesMaster1.xml" Id="R711d0dcff32b45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0e9011121c47a1" /><Relationship Type="http://schemas.openxmlformats.org/officeDocument/2006/relationships/notesMaster" Target="/ppt/notesMasters/notesMaster1.xml" Id="R9dca700086774d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fcd974bc85403c" /><Relationship Type="http://schemas.openxmlformats.org/officeDocument/2006/relationships/notesMaster" Target="/ppt/notesMasters/notesMaster1.xml" Id="Re86aa544871941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be4adfd80e48ff" /><Relationship Type="http://schemas.openxmlformats.org/officeDocument/2006/relationships/notesMaster" Target="/ppt/notesMasters/notesMaster1.xml" Id="Rfd98a37cafd246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855b43810849a2" /><Relationship Type="http://schemas.openxmlformats.org/officeDocument/2006/relationships/notesMaster" Target="/ppt/notesMasters/notesMaster1.xml" Id="R25aec6171be74c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bdbc091004417d" /><Relationship Type="http://schemas.openxmlformats.org/officeDocument/2006/relationships/notesMaster" Target="/ppt/notesMasters/notesMaster1.xml" Id="R76bc8bb1500444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79e83e4bc34a71" /><Relationship Type="http://schemas.openxmlformats.org/officeDocument/2006/relationships/notesMaster" Target="/ppt/notesMasters/notesMaster1.xml" Id="R3eca8ebf10ee4c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2bd83ea81e476d" /><Relationship Type="http://schemas.openxmlformats.org/officeDocument/2006/relationships/notesMaster" Target="/ppt/notesMasters/notesMaster1.xml" Id="R1537ba39577143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8780c8f7ba4d0e" /><Relationship Type="http://schemas.openxmlformats.org/officeDocument/2006/relationships/notesMaster" Target="/ppt/notesMasters/notesMaster1.xml" Id="R8e3102cffee642d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266daf2e2d4b8a" /><Relationship Type="http://schemas.openxmlformats.org/officeDocument/2006/relationships/notesMaster" Target="/ppt/notesMasters/notesMaster1.xml" Id="Rca016e29cad44a5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2aec10128a4762" /><Relationship Type="http://schemas.openxmlformats.org/officeDocument/2006/relationships/notesMaster" Target="/ppt/notesMasters/notesMaster1.xml" Id="Rd37ec401846c49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7ca3dc8aa1458a" /><Relationship Type="http://schemas.openxmlformats.org/officeDocument/2006/relationships/notesMaster" Target="/ppt/notesMasters/notesMaster1.xml" Id="R6b92a76f4ff94b9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cbdf11eb56b4783" /><Relationship Type="http://schemas.openxmlformats.org/officeDocument/2006/relationships/notesMaster" Target="/ppt/notesMasters/notesMaster1.xml" Id="R63eb5087933549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b9cd1d8426d4529" /><Relationship Type="http://schemas.openxmlformats.org/officeDocument/2006/relationships/notesMaster" Target="/ppt/notesMasters/notesMaster1.xml" Id="R94b5c627bfff46f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555a5ca4fb4ee1" /><Relationship Type="http://schemas.openxmlformats.org/officeDocument/2006/relationships/notesMaster" Target="/ppt/notesMasters/notesMaster1.xml" Id="R3b1f4b7d7139445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238aaf2ce942a1" /><Relationship Type="http://schemas.openxmlformats.org/officeDocument/2006/relationships/notesMaster" Target="/ppt/notesMasters/notesMaster1.xml" Id="R4bef2b00711342d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785afc4a08944ef" /><Relationship Type="http://schemas.openxmlformats.org/officeDocument/2006/relationships/notesMaster" Target="/ppt/notesMasters/notesMaster1.xml" Id="Rae6247036fb3490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faa44fb83e047ca" /><Relationship Type="http://schemas.openxmlformats.org/officeDocument/2006/relationships/notesMaster" Target="/ppt/notesMasters/notesMaster1.xml" Id="Ra5d759aa90f146b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7b8aff9ef6b42c2" /><Relationship Type="http://schemas.openxmlformats.org/officeDocument/2006/relationships/notesMaster" Target="/ppt/notesMasters/notesMaster1.xml" Id="R5ff40148c39d4a6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2e2529225994605" /><Relationship Type="http://schemas.openxmlformats.org/officeDocument/2006/relationships/notesMaster" Target="/ppt/notesMasters/notesMaster1.xml" Id="R95a8f1a5043f445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e8332a9c55f40e8" /><Relationship Type="http://schemas.openxmlformats.org/officeDocument/2006/relationships/notesMaster" Target="/ppt/notesMasters/notesMaster1.xml" Id="R802a2b9bde23427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0f9a03fa6f4b17" /><Relationship Type="http://schemas.openxmlformats.org/officeDocument/2006/relationships/notesMaster" Target="/ppt/notesMasters/notesMaster1.xml" Id="R2c774d767e25463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0b9ca1b612f45ce" /><Relationship Type="http://schemas.openxmlformats.org/officeDocument/2006/relationships/notesMaster" Target="/ppt/notesMasters/notesMaster1.xml" Id="R25f1a670eabe4de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3dd9ea41ec8477b" /><Relationship Type="http://schemas.openxmlformats.org/officeDocument/2006/relationships/notesMaster" Target="/ppt/notesMasters/notesMaster1.xml" Id="R8c303ad7560e48c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c71c7aecc5d4593" /><Relationship Type="http://schemas.openxmlformats.org/officeDocument/2006/relationships/notesMaster" Target="/ppt/notesMasters/notesMaster1.xml" Id="Rcd76897d9224402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87c9439d8ac428b" /><Relationship Type="http://schemas.openxmlformats.org/officeDocument/2006/relationships/notesMaster" Target="/ppt/notesMasters/notesMaster1.xml" Id="R6efaff61a71d4e9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78493e3cf70487a" /><Relationship Type="http://schemas.openxmlformats.org/officeDocument/2006/relationships/notesMaster" Target="/ppt/notesMasters/notesMaster1.xml" Id="Rca1c7a95cb96412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194393bbafa49e9" /><Relationship Type="http://schemas.openxmlformats.org/officeDocument/2006/relationships/notesMaster" Target="/ppt/notesMasters/notesMaster1.xml" Id="Rfae90012408247b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c88345fd8014558" /><Relationship Type="http://schemas.openxmlformats.org/officeDocument/2006/relationships/notesMaster" Target="/ppt/notesMasters/notesMaster1.xml" Id="R2282eff6d9ec465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0179ff275334a38" /><Relationship Type="http://schemas.openxmlformats.org/officeDocument/2006/relationships/notesMaster" Target="/ppt/notesMasters/notesMaster1.xml" Id="R821ceb7db68142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https://www.spacex.com/vehicles/falcon-9/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https://en.wikipedia.org/w/index.php?title=List_of_Falcon_9_and_Falcon_Heavy_launches&amp;oldid=1027686922</a:t>
            </a:r>
          </a:p>
          <a:p xmlns:a="http://schemas.openxmlformats.org/drawingml/2006/main">
            <a:r>
              <a:t>https://cf-courses-data.s3.us.cloud-object-storage.appdomain.cloud/IBM-DS0321EN-SkillsNetwork/datasets/spacex_launch_dash.csv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https://github.com/r-spacex/SpaceX-API/tree/master/docs/v4</a:t>
            </a:r>
          </a:p>
          <a:p xmlns:a="http://schemas.openxmlformats.org/drawingml/2006/main">
            <a:r>
              <a:t>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https://en.wikipedia.org/w/index.php?title=List_of_Falcon_9_and_Falcon_Heavy_launches&amp;oldid=1027686922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https://en.wikipedia.org/w/index.php?title=List_of_Falcon_9_and_Falcon_Heavy_launches&amp;oldid=1027686922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https://cf-courses-data.s3.us.cloud-object-storage.appdomain.cloud/IBM-DS0321EN-SkillsNetwork/datasets/spacex_launch_geo.csv</a:t>
            </a:r>
          </a:p>
          <a:p xmlns:a="http://schemas.openxmlformats.org/drawingml/2006/main">
            <a:r>
              <a:t>https://cf-courses-data.s3.us.cloud-object-storage.appdomain.cloud/IBM-DS0321EN-SkillsNetwork/datasets/spacex_launch_dash.csv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https://en.wikipedia.org/w/index.php?title=List_of_Falcon_9_and_Falcon_Heavy_launches&amp;oldid=1027686922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https://en.wikipedia.org/w/index.php?title=List_of_Falcon_9_and_Falcon_Heavy_launches&amp;oldid=1027686922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https://en.wikipedia.org/w/index.php?title=List_of_Falcon_9_and_Falcon_Heavy_launches&amp;oldid=1027686922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https://en.wikipedia.org/w/index.php?title=List_of_Falcon_9_and_Falcon_Heavy_launches&amp;oldid=1027686922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https://en.wikipedia.org/w/index.php?title=List_of_Falcon_9_and_Falcon_Heavy_launches&amp;oldid=1027686922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https://en.wikipedia.org/w/index.php?title=List_of_Falcon_9_and_Falcon_Heavy_launches&amp;oldid=1027686922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https://en.wikipedia.org/w/index.php?title=List_of_Falcon_9_and_Falcon_Heavy_launches&amp;oldid=1027686922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https://en.wikipedia.org/w/index.php?title=List_of_Falcon_9_and_Falcon_Heavy_launches&amp;oldid=1027686922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OpenStreetMap contributors: https://www.openstreetmap.org/copyright</a:t>
            </a:r>
          </a:p>
          <a:p xmlns:a="http://schemas.openxmlformats.org/drawingml/2006/main">
            <a:r>
              <a:t>https://github.com/giusdp45/spacex-landing-capstone/blob/main/scripts/build_maps.py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OpenStreetMap contributors: https://www.openstreetmap.org/copyright</a:t>
            </a:r>
          </a:p>
          <a:p xmlns:a="http://schemas.openxmlformats.org/drawingml/2006/main">
            <a:r>
              <a:t>https://github.com/giusdp45/spacex-landing-capstone/blob/main/scripts/build_maps.py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OpenStreetMap contributors: https://www.openstreetmap.org/copyright</a:t>
            </a:r>
          </a:p>
          <a:p xmlns:a="http://schemas.openxmlformats.org/drawingml/2006/main">
            <a:r>
              <a:t>https://github.com/giusdp45/spacex-landing-capstone/blob/main/scripts/build_maps.py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OpenStreetMap contributors: https://www.openstreetmap.org/copyright</a:t>
            </a:r>
          </a:p>
          <a:p xmlns:a="http://schemas.openxmlformats.org/drawingml/2006/main">
            <a:r>
              <a:t>https://github.com/giusdp45/spacex-landing-capstone/blob/main/scripts/build_maps.py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OpenStreetMap contributors: https://www.openstreetmap.org/copyright</a:t>
            </a:r>
          </a:p>
          <a:p xmlns:a="http://schemas.openxmlformats.org/drawingml/2006/main">
            <a:r>
              <a:t>https://github.com/giusdp45/spacex-landing-capstone/blob/main/scripts/build_maps.py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OpenStreetMap contributors: https://www.openstreetmap.org/copyright</a:t>
            </a:r>
          </a:p>
          <a:p xmlns:a="http://schemas.openxmlformats.org/drawingml/2006/main">
            <a:r>
              <a:t>https://github.com/giusdp45/spacex-landing-capstone/blob/main/scripts/build_maps.py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https://github.com/giusdp45/spacex-landing-capstone/blob/main/scripts/analyze.py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https://github.com/giusdp45/spacex-landing-capstone/blob/main/notebooks/07_Predictive_Analysis.ipynb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https://github.com/giusdp45/spacex-landing-capstone/blob/main/scripts/analyze.py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https://en.wikipedia.org/w/index.php?title=List_of_Falcon_9_and_Falcon_Heavy_launches&amp;oldid=1027686922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reproducibility:</a:t>
            </a:r>
          </a:p>
          <a:p xmlns:a="http://schemas.openxmlformats.org/drawingml/2006/main">
            <a:r>
              <a:t>https://github.com/giusdp45/spacex-landing-capstone</a:t>
            </a:r>
          </a:p>
          <a:p xmlns:a="http://schemas.openxmlformats.org/drawingml/2006/main">
            <a:r>
              <a:t>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https://cf-courses-data.s3.us.cloud-object-storage.appdomain.cloud/IBM-DS0321EN-SkillsNetwork/datasets/dataset_part_2.csv</a:t>
            </a:r>
          </a:p>
          <a:p xmlns:a="http://schemas.openxmlformats.org/drawingml/2006/main">
            <a:r>
              <a:t>https://en.wikipedia.org/w/index.php?title=List_of_Falcon_9_and_Falcon_Heavy_launches&amp;oldid=1027686922</a:t>
            </a:r>
          </a:p>
          <a:p xmlns:a="http://schemas.openxmlformats.org/drawingml/2006/main">
            <a:r>
              <a:t>https://www.openstreetmap.org/copyright</a:t>
            </a:r>
          </a:p>
          <a:p xmlns:a="http://schemas.openxmlformats.org/drawingml/2006/main">
            <a:r>
              <a:t>All calculated results come from the submitted scripts and executed notebooks. Sample definitions and limitations are stated on the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c44bb189444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86101fd844d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4e8476a9041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9616263d845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877de2e3b45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4152c40d24b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73D6F3-F1ED-4D35-8968-920FD75E5D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7A3508-FC0C-481A-9611-C9E94AE39C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E4CDA5-7485-45A2-8ED1-8FF22A8E8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84BA13-5D28-4EC1-84ED-D982B48F79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6F0831-EFC6-4EA0-975F-A83DF72AFB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C1A950-9BCB-4BCF-ADE2-472406463A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21E03A-3D1A-4EE6-92E4-FB60CC37A0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7BF38A-2F21-44DF-936F-AE1618C67E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7FBCF1-8865-47D2-A2B8-DF7B042A12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7D72D5-A146-4984-8146-BDB05DE9C3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3ecdebfcb64602" /><Relationship Type="http://schemas.openxmlformats.org/officeDocument/2006/relationships/slideLayout" Target="/ppt/slideLayouts/slideLayout1.xml" Id="Re805e7cd24c9445b" /><Relationship Type="http://schemas.openxmlformats.org/officeDocument/2006/relationships/slideLayout" Target="/ppt/slideLayouts/slideLayout2.xml" Id="R64af2aa22d9e486b" /><Relationship Type="http://schemas.openxmlformats.org/officeDocument/2006/relationships/slideLayout" Target="/ppt/slideLayouts/slideLayout3.xml" Id="R49925eca9c06444c" /><Relationship Type="http://schemas.openxmlformats.org/officeDocument/2006/relationships/slideLayout" Target="/ppt/slideLayouts/slideLayout4.xml" Id="R64d1869c6ed94a5a" /><Relationship Type="http://schemas.openxmlformats.org/officeDocument/2006/relationships/slideLayout" Target="/ppt/slideLayouts/slideLayout5.xml" Id="R45c5182f9a4d4272" /><Relationship Type="http://schemas.openxmlformats.org/officeDocument/2006/relationships/slideLayout" Target="/ppt/slideLayouts/slideLayout6.xml" Id="R4200e071a9bf46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05e7cd24c9445b"/>
    <p:sldLayoutId xmlns:r="http://schemas.openxmlformats.org/officeDocument/2006/relationships" id="2147483650" r:id="R64af2aa22d9e486b"/>
    <p:sldLayoutId xmlns:r="http://schemas.openxmlformats.org/officeDocument/2006/relationships" id="2147483651" r:id="R49925eca9c06444c"/>
    <p:sldLayoutId xmlns:r="http://schemas.openxmlformats.org/officeDocument/2006/relationships" id="2147483652" r:id="R64d1869c6ed94a5a"/>
    <p:sldLayoutId xmlns:r="http://schemas.openxmlformats.org/officeDocument/2006/relationships" id="2147483653" r:id="R45c5182f9a4d4272"/>
    <p:sldLayoutId xmlns:r="http://schemas.openxmlformats.org/officeDocument/2006/relationships" id="2147483654" r:id="R4200e071a9bf46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f535e92f14cb1" /><Relationship Type="http://schemas.openxmlformats.org/officeDocument/2006/relationships/notesSlide" Target="/ppt/notesSlides/notesSlide1.xml" Id="R071fed37dfb04f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c54c69576d4708" /><Relationship Type="http://schemas.openxmlformats.org/officeDocument/2006/relationships/notesSlide" Target="/ppt/notesSlides/notesSlide2.xml" Id="Rf13a81475aae4d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7bd8c577944a0f" /><Relationship Type="http://schemas.openxmlformats.org/officeDocument/2006/relationships/notesSlide" Target="/ppt/notesSlides/notesSlide3.xml" Id="R4e7ed799f9bb4f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537876bed4581" /><Relationship Type="http://schemas.openxmlformats.org/officeDocument/2006/relationships/notesSlide" Target="/ppt/notesSlides/notesSlide4.xml" Id="Rcc4ffcb6823948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5ad77cdb134787" /><Relationship Type="http://schemas.openxmlformats.org/officeDocument/2006/relationships/notesSlide" Target="/ppt/notesSlides/notesSlide5.xml" Id="R7e616319ba364b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8b4702927545ab" /><Relationship Type="http://schemas.openxmlformats.org/officeDocument/2006/relationships/notesSlide" Target="/ppt/notesSlides/notesSlide6.xml" Id="R4d3311a3b99946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ba444525f4493" /><Relationship Type="http://schemas.openxmlformats.org/officeDocument/2006/relationships/notesSlide" Target="/ppt/notesSlides/notesSlide7.xml" Id="R817ae8ab356f49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b9383cb2740e9" /><Relationship Type="http://schemas.openxmlformats.org/officeDocument/2006/relationships/notesSlide" Target="/ppt/notesSlides/notesSlide8.xml" Id="R1ef45c93a07d41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581e3eea44115" /><Relationship Type="http://schemas.openxmlformats.org/officeDocument/2006/relationships/notesSlide" Target="/ppt/notesSlides/notesSlide9.xml" Id="Rd05126c574e240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1441c93f4d4baa" /><Relationship Type="http://schemas.openxmlformats.org/officeDocument/2006/relationships/notesSlide" Target="/ppt/notesSlides/notesSlide10.xml" Id="R216ed4c4bbb34a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defa3b9404b5d" /><Relationship Type="http://schemas.openxmlformats.org/officeDocument/2006/relationships/chart" Target="/ppt/slides/charts/chart1.xml" Id="R7f68b07899ff41c7" /><Relationship Type="http://schemas.openxmlformats.org/officeDocument/2006/relationships/notesSlide" Target="/ppt/notesSlides/notesSlide11.xml" Id="R6b54c5f0fa984b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8a4b35aed9454b" /><Relationship Type="http://schemas.openxmlformats.org/officeDocument/2006/relationships/chart" Target="/ppt/slides/charts/chart2.xml" Id="R83c8265d521c4eaf" /><Relationship Type="http://schemas.openxmlformats.org/officeDocument/2006/relationships/notesSlide" Target="/ppt/notesSlides/notesSlide12.xml" Id="Rf3bd209c9a144a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116f1487d40a0" /><Relationship Type="http://schemas.openxmlformats.org/officeDocument/2006/relationships/chart" Target="/ppt/slides/charts/chart3.xml" Id="R620963eaaaac4408" /><Relationship Type="http://schemas.openxmlformats.org/officeDocument/2006/relationships/notesSlide" Target="/ppt/notesSlides/notesSlide13.xml" Id="R35e50481d59a4e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767dc90ce4256" /><Relationship Type="http://schemas.openxmlformats.org/officeDocument/2006/relationships/chart" Target="/ppt/slides/charts/chart4.xml" Id="Rd89d4994383345eb" /><Relationship Type="http://schemas.openxmlformats.org/officeDocument/2006/relationships/notesSlide" Target="/ppt/notesSlides/notesSlide14.xml" Id="R5c3c67e38d0640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7f4be40744e7d" /><Relationship Type="http://schemas.openxmlformats.org/officeDocument/2006/relationships/chart" Target="/ppt/slides/charts/chart5.xml" Id="R7b4474b7e21546ea" /><Relationship Type="http://schemas.openxmlformats.org/officeDocument/2006/relationships/notesSlide" Target="/ppt/notesSlides/notesSlide15.xml" Id="Rbe6adbca624a40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6d257220c46f9" /><Relationship Type="http://schemas.openxmlformats.org/officeDocument/2006/relationships/chart" Target="/ppt/slides/charts/chart6.xml" Id="Reb3ca1c47c9243d8" /><Relationship Type="http://schemas.openxmlformats.org/officeDocument/2006/relationships/notesSlide" Target="/ppt/notesSlides/notesSlide16.xml" Id="R128ec453c98b46a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5438bb01f64135" /><Relationship Type="http://schemas.openxmlformats.org/officeDocument/2006/relationships/notesSlide" Target="/ppt/notesSlides/notesSlide17.xml" Id="Re5179c412fc24c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2abad01af4907" /><Relationship Type="http://schemas.openxmlformats.org/officeDocument/2006/relationships/notesSlide" Target="/ppt/notesSlides/notesSlide18.xml" Id="Ra462be588cec4a6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47aaa7b50c4f60" /><Relationship Type="http://schemas.openxmlformats.org/officeDocument/2006/relationships/notesSlide" Target="/ppt/notesSlides/notesSlide19.xml" Id="Rf707b13eaed24c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851bc899c4888" /><Relationship Type="http://schemas.openxmlformats.org/officeDocument/2006/relationships/notesSlide" Target="/ppt/notesSlides/notesSlide20.xml" Id="Rc6fc13d6f60b4b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93266edf144e5b" /><Relationship Type="http://schemas.openxmlformats.org/officeDocument/2006/relationships/notesSlide" Target="/ppt/notesSlides/notesSlide21.xml" Id="R34489b4f7ffa44f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32a93b3ed048de" /><Relationship Type="http://schemas.openxmlformats.org/officeDocument/2006/relationships/notesSlide" Target="/ppt/notesSlides/notesSlide22.xml" Id="R37c026c56a7440e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069d127cf147ea" /><Relationship Type="http://schemas.openxmlformats.org/officeDocument/2006/relationships/notesSlide" Target="/ppt/notesSlides/notesSlide23.xml" Id="Rcc4bbaffab5742c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15350795d4311" /><Relationship Type="http://schemas.openxmlformats.org/officeDocument/2006/relationships/notesSlide" Target="/ppt/notesSlides/notesSlide24.xml" Id="Rf190b20e7b5d4e8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cf791e7dc646c6" /><Relationship Type="http://schemas.openxmlformats.org/officeDocument/2006/relationships/image" Target="/ppt/media/image.jpeg" Id="Rf5f854d50caf4564" /><Relationship Type="http://schemas.openxmlformats.org/officeDocument/2006/relationships/notesSlide" Target="/ppt/notesSlides/notesSlide25.xml" Id="R1ae5de2e99ca448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114d37edba40ef" /><Relationship Type="http://schemas.openxmlformats.org/officeDocument/2006/relationships/image" Target="/ppt/media/image2.jpeg" Id="R2959649899354be7" /><Relationship Type="http://schemas.openxmlformats.org/officeDocument/2006/relationships/notesSlide" Target="/ppt/notesSlides/notesSlide26.xml" Id="R04e103233bc2489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3f1b96a56d4d83" /><Relationship Type="http://schemas.openxmlformats.org/officeDocument/2006/relationships/image" Target="/ppt/media/image3.jpeg" Id="R6de7a7e629fd46d7" /><Relationship Type="http://schemas.openxmlformats.org/officeDocument/2006/relationships/notesSlide" Target="/ppt/notesSlides/notesSlide27.xml" Id="R954f71102cc1480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7cb7f6b794496" /><Relationship Type="http://schemas.openxmlformats.org/officeDocument/2006/relationships/image" Target="/ppt/media/image4.jpeg" Id="R77fe83d0c1ee4731" /><Relationship Type="http://schemas.openxmlformats.org/officeDocument/2006/relationships/notesSlide" Target="/ppt/notesSlides/notesSlide28.xml" Id="Rc2a72152d74b4d1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1b62f8a3046a9" /><Relationship Type="http://schemas.openxmlformats.org/officeDocument/2006/relationships/image" Target="/ppt/media/image5.jpeg" Id="R66090eb5b89c45e6" /><Relationship Type="http://schemas.openxmlformats.org/officeDocument/2006/relationships/notesSlide" Target="/ppt/notesSlides/notesSlide29.xml" Id="Ra03f98bf821a452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7cc4e5c6f4413" /><Relationship Type="http://schemas.openxmlformats.org/officeDocument/2006/relationships/image" Target="/ppt/media/image6.jpeg" Id="Ra1d84aaa8da94e33" /><Relationship Type="http://schemas.openxmlformats.org/officeDocument/2006/relationships/notesSlide" Target="/ppt/notesSlides/notesSlide30.xml" Id="R4fbfab4350614c4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28eb48d474838" /><Relationship Type="http://schemas.openxmlformats.org/officeDocument/2006/relationships/notesSlide" Target="/ppt/notesSlides/notesSlide31.xml" Id="R254e32a4e796494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45dee4cec946ef" /><Relationship Type="http://schemas.openxmlformats.org/officeDocument/2006/relationships/chart" Target="/ppt/slides/charts/chart7.xml" Id="R55b4d8bcc1064cba" /><Relationship Type="http://schemas.openxmlformats.org/officeDocument/2006/relationships/notesSlide" Target="/ppt/notesSlides/notesSlide32.xml" Id="Rf85785cb819641d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8f466dfe04c59" /><Relationship Type="http://schemas.openxmlformats.org/officeDocument/2006/relationships/notesSlide" Target="/ppt/notesSlides/notesSlide33.xml" Id="Rcc129e84cc96461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d05b851a5f4638" /><Relationship Type="http://schemas.openxmlformats.org/officeDocument/2006/relationships/notesSlide" Target="/ppt/notesSlides/notesSlide34.xml" Id="Rfaa6644d0b7045f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bd8db419dc4def" /><Relationship Type="http://schemas.openxmlformats.org/officeDocument/2006/relationships/notesSlide" Target="/ppt/notesSlides/notesSlide35.xml" Id="R85420d75b972421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477d1e043246bd" /><Relationship Type="http://schemas.openxmlformats.org/officeDocument/2006/relationships/notesSlide" Target="/ppt/notesSlides/notesSlide36.xml" Id="R5a4f0aecb0fc42a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Class 0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7"/>
            <c:spPr>
              <a:solidFill xmlns:a="http://schemas.openxmlformats.org/drawingml/2006/main">
                <a:srgbClr val="DC2626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18</c:v>
                </c:pt>
                <c:pt idx="14">
                  <c:v>19</c:v>
                </c:pt>
                <c:pt idx="15">
                  <c:v>25</c:v>
                </c:pt>
                <c:pt idx="16">
                  <c:v>28</c:v>
                </c:pt>
                <c:pt idx="17">
                  <c:v>31</c:v>
                </c:pt>
                <c:pt idx="18">
                  <c:v>35</c:v>
                </c:pt>
                <c:pt idx="19">
                  <c:v>46</c:v>
                </c:pt>
                <c:pt idx="20">
                  <c:v>47</c:v>
                </c:pt>
                <c:pt idx="21">
                  <c:v>48</c:v>
                </c:pt>
                <c:pt idx="22">
                  <c:v>51</c:v>
                </c:pt>
                <c:pt idx="23">
                  <c:v>52</c:v>
                </c:pt>
                <c:pt idx="24">
                  <c:v>60</c:v>
                </c:pt>
                <c:pt idx="25">
                  <c:v>61</c:v>
                </c:pt>
                <c:pt idx="26">
                  <c:v>68</c:v>
                </c:pt>
                <c:pt idx="27">
                  <c:v>73</c:v>
                </c:pt>
                <c:pt idx="28">
                  <c:v>75</c:v>
                </c:pt>
                <c:pt idx="29">
                  <c:v>77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3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1</c:v>
                </c:pt>
                <c:pt idx="20">
                  <c:v>3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2</c:v>
                </c:pt>
              </c:numCache>
            </c:numRef>
          </c:yVal>
        </c:ser>
        <c:ser>
          <c:idx val="1"/>
          <c:order val="1"/>
          <c:tx>
            <c:v>Class 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2563EB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7</c:v>
                </c:pt>
                <c:pt idx="1">
                  <c:v>8</c:v>
                </c:pt>
                <c:pt idx="2">
                  <c:v>13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22</c:v>
                </c:pt>
                <c:pt idx="7">
                  <c:v>23</c:v>
                </c:pt>
                <c:pt idx="8">
                  <c:v>24</c:v>
                </c:pt>
                <c:pt idx="9">
                  <c:v>26</c:v>
                </c:pt>
                <c:pt idx="10">
                  <c:v>27</c:v>
                </c:pt>
                <c:pt idx="11">
                  <c:v>29</c:v>
                </c:pt>
                <c:pt idx="12">
                  <c:v>30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36</c:v>
                </c:pt>
                <c:pt idx="17">
                  <c:v>37</c:v>
                </c:pt>
                <c:pt idx="18">
                  <c:v>38</c:v>
                </c:pt>
                <c:pt idx="19">
                  <c:v>39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49</c:v>
                </c:pt>
                <c:pt idx="27">
                  <c:v>50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62</c:v>
                </c:pt>
                <c:pt idx="36">
                  <c:v>63</c:v>
                </c:pt>
                <c:pt idx="37">
                  <c:v>64</c:v>
                </c:pt>
                <c:pt idx="38">
                  <c:v>65</c:v>
                </c:pt>
                <c:pt idx="39">
                  <c:v>66</c:v>
                </c:pt>
                <c:pt idx="40">
                  <c:v>67</c:v>
                </c:pt>
                <c:pt idx="41">
                  <c:v>69</c:v>
                </c:pt>
                <c:pt idx="42">
                  <c:v>70</c:v>
                </c:pt>
                <c:pt idx="43">
                  <c:v>71</c:v>
                </c:pt>
                <c:pt idx="44">
                  <c:v>72</c:v>
                </c:pt>
                <c:pt idx="45">
                  <c:v>74</c:v>
                </c:pt>
                <c:pt idx="46">
                  <c:v>76</c:v>
                </c:pt>
                <c:pt idx="47">
                  <c:v>78</c:v>
                </c:pt>
                <c:pt idx="48">
                  <c:v>79</c:v>
                </c:pt>
                <c:pt idx="49">
                  <c:v>80</c:v>
                </c:pt>
                <c:pt idx="50">
                  <c:v>81</c:v>
                </c:pt>
                <c:pt idx="51">
                  <c:v>82</c:v>
                </c:pt>
                <c:pt idx="52">
                  <c:v>83</c:v>
                </c:pt>
                <c:pt idx="53">
                  <c:v>84</c:v>
                </c:pt>
                <c:pt idx="54">
                  <c:v>85</c:v>
                </c:pt>
                <c:pt idx="55">
                  <c:v>86</c:v>
                </c:pt>
                <c:pt idx="56">
                  <c:v>87</c:v>
                </c:pt>
                <c:pt idx="57">
                  <c:v>88</c:v>
                </c:pt>
                <c:pt idx="58">
                  <c:v>89</c:v>
                </c:pt>
                <c:pt idx="59">
                  <c:v>90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3</c:v>
                </c:pt>
                <c:pt idx="16">
                  <c:v>2</c:v>
                </c:pt>
                <c:pt idx="17">
                  <c:v>3</c:v>
                </c:pt>
                <c:pt idx="18">
                  <c:v>2</c:v>
                </c:pt>
                <c:pt idx="19">
                  <c:v>3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3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3</c:v>
                </c:pt>
                <c:pt idx="30">
                  <c:v>1</c:v>
                </c:pt>
                <c:pt idx="31">
                  <c:v>1</c:v>
                </c:pt>
                <c:pt idx="32">
                  <c:v>3</c:v>
                </c:pt>
                <c:pt idx="33">
                  <c:v>2</c:v>
                </c:pt>
                <c:pt idx="34">
                  <c:v>3</c:v>
                </c:pt>
                <c:pt idx="35">
                  <c:v>3</c:v>
                </c:pt>
                <c:pt idx="36">
                  <c:v>2</c:v>
                </c:pt>
                <c:pt idx="37">
                  <c:v>1</c:v>
                </c:pt>
                <c:pt idx="38">
                  <c:v>1</c:v>
                </c:pt>
                <c:pt idx="39">
                  <c:v>3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2</c:v>
                </c:pt>
                <c:pt idx="48">
                  <c:v>2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1</c:v>
                </c:pt>
                <c:pt idx="59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4155"/>
                    </a:solidFill>
                    <a:latin typeface="Arial"/>
                    <a:ea typeface="Arial"/>
                    <a:cs typeface="Arial"/>
                  </a:rPr>
                  <a:t>Category code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415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4155"/>
                    </a:solidFill>
                    <a:latin typeface="Arial"/>
                    <a:ea typeface="Arial"/>
                    <a:cs typeface="Arial"/>
                  </a:rPr>
                  <a:t>Flight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415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Class 0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7"/>
            <c:spPr>
              <a:solidFill xmlns:a="http://schemas.openxmlformats.org/drawingml/2006/main">
                <a:srgbClr val="DC2626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6104.95941176</c:v>
                </c:pt>
                <c:pt idx="1">
                  <c:v>525</c:v>
                </c:pt>
                <c:pt idx="2">
                  <c:v>677</c:v>
                </c:pt>
                <c:pt idx="3">
                  <c:v>500</c:v>
                </c:pt>
                <c:pt idx="4">
                  <c:v>3170</c:v>
                </c:pt>
                <c:pt idx="5">
                  <c:v>3325</c:v>
                </c:pt>
                <c:pt idx="6">
                  <c:v>4535</c:v>
                </c:pt>
                <c:pt idx="7">
                  <c:v>4428</c:v>
                </c:pt>
                <c:pt idx="8">
                  <c:v>2216</c:v>
                </c:pt>
                <c:pt idx="9">
                  <c:v>2395</c:v>
                </c:pt>
                <c:pt idx="10">
                  <c:v>1898</c:v>
                </c:pt>
                <c:pt idx="11">
                  <c:v>4707</c:v>
                </c:pt>
                <c:pt idx="12">
                  <c:v>2477</c:v>
                </c:pt>
                <c:pt idx="13">
                  <c:v>553</c:v>
                </c:pt>
                <c:pt idx="14">
                  <c:v>5271</c:v>
                </c:pt>
                <c:pt idx="15">
                  <c:v>5500</c:v>
                </c:pt>
                <c:pt idx="16">
                  <c:v>5600</c:v>
                </c:pt>
                <c:pt idx="17">
                  <c:v>6070</c:v>
                </c:pt>
                <c:pt idx="18">
                  <c:v>6761</c:v>
                </c:pt>
                <c:pt idx="19">
                  <c:v>6092</c:v>
                </c:pt>
                <c:pt idx="20">
                  <c:v>9600</c:v>
                </c:pt>
                <c:pt idx="21">
                  <c:v>2760</c:v>
                </c:pt>
                <c:pt idx="22">
                  <c:v>5383.85</c:v>
                </c:pt>
                <c:pt idx="23">
                  <c:v>2410</c:v>
                </c:pt>
                <c:pt idx="24">
                  <c:v>2573</c:v>
                </c:pt>
                <c:pt idx="25">
                  <c:v>4400</c:v>
                </c:pt>
                <c:pt idx="26">
                  <c:v>6500</c:v>
                </c:pt>
                <c:pt idx="27">
                  <c:v>6104.95941176</c:v>
                </c:pt>
                <c:pt idx="28">
                  <c:v>15400</c:v>
                </c:pt>
                <c:pt idx="29">
                  <c:v>15600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3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1</c:v>
                </c:pt>
                <c:pt idx="20">
                  <c:v>3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2</c:v>
                </c:pt>
              </c:numCache>
            </c:numRef>
          </c:yVal>
        </c:ser>
        <c:ser>
          <c:idx val="1"/>
          <c:order val="1"/>
          <c:tx>
            <c:v>Class 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2563EB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2296</c:v>
                </c:pt>
                <c:pt idx="1">
                  <c:v>1316</c:v>
                </c:pt>
                <c:pt idx="2">
                  <c:v>570</c:v>
                </c:pt>
                <c:pt idx="3">
                  <c:v>2034</c:v>
                </c:pt>
                <c:pt idx="4">
                  <c:v>3136</c:v>
                </c:pt>
                <c:pt idx="5">
                  <c:v>4696</c:v>
                </c:pt>
                <c:pt idx="6">
                  <c:v>3100</c:v>
                </c:pt>
                <c:pt idx="7">
                  <c:v>2257</c:v>
                </c:pt>
                <c:pt idx="8">
                  <c:v>4600</c:v>
                </c:pt>
                <c:pt idx="9">
                  <c:v>9600</c:v>
                </c:pt>
                <c:pt idx="10">
                  <c:v>2490</c:v>
                </c:pt>
                <c:pt idx="11">
                  <c:v>5300</c:v>
                </c:pt>
                <c:pt idx="12">
                  <c:v>6104.95941176</c:v>
                </c:pt>
                <c:pt idx="13">
                  <c:v>2708</c:v>
                </c:pt>
                <c:pt idx="14">
                  <c:v>3669</c:v>
                </c:pt>
                <c:pt idx="15">
                  <c:v>9600</c:v>
                </c:pt>
                <c:pt idx="16">
                  <c:v>2910</c:v>
                </c:pt>
                <c:pt idx="17">
                  <c:v>475</c:v>
                </c:pt>
                <c:pt idx="18">
                  <c:v>4990</c:v>
                </c:pt>
                <c:pt idx="19">
                  <c:v>9600</c:v>
                </c:pt>
                <c:pt idx="20">
                  <c:v>5200</c:v>
                </c:pt>
                <c:pt idx="21">
                  <c:v>3700</c:v>
                </c:pt>
                <c:pt idx="22">
                  <c:v>2205</c:v>
                </c:pt>
                <c:pt idx="23">
                  <c:v>9600</c:v>
                </c:pt>
                <c:pt idx="24">
                  <c:v>6104.95941176</c:v>
                </c:pt>
                <c:pt idx="25">
                  <c:v>4230</c:v>
                </c:pt>
                <c:pt idx="26">
                  <c:v>350</c:v>
                </c:pt>
                <c:pt idx="27">
                  <c:v>3750</c:v>
                </c:pt>
                <c:pt idx="28">
                  <c:v>7076</c:v>
                </c:pt>
                <c:pt idx="29">
                  <c:v>9600</c:v>
                </c:pt>
                <c:pt idx="30">
                  <c:v>5800</c:v>
                </c:pt>
                <c:pt idx="31">
                  <c:v>7060</c:v>
                </c:pt>
                <c:pt idx="32">
                  <c:v>2800</c:v>
                </c:pt>
                <c:pt idx="33">
                  <c:v>3000</c:v>
                </c:pt>
                <c:pt idx="34">
                  <c:v>4000</c:v>
                </c:pt>
                <c:pt idx="35">
                  <c:v>9600</c:v>
                </c:pt>
                <c:pt idx="36">
                  <c:v>12259</c:v>
                </c:pt>
                <c:pt idx="37">
                  <c:v>2482</c:v>
                </c:pt>
                <c:pt idx="38">
                  <c:v>13620</c:v>
                </c:pt>
                <c:pt idx="39">
                  <c:v>1425</c:v>
                </c:pt>
                <c:pt idx="40">
                  <c:v>2227.7</c:v>
                </c:pt>
                <c:pt idx="41">
                  <c:v>15600</c:v>
                </c:pt>
                <c:pt idx="42">
                  <c:v>5000</c:v>
                </c:pt>
                <c:pt idx="43">
                  <c:v>6800</c:v>
                </c:pt>
                <c:pt idx="44">
                  <c:v>15400</c:v>
                </c:pt>
                <c:pt idx="45">
                  <c:v>15600</c:v>
                </c:pt>
                <c:pt idx="46">
                  <c:v>1977</c:v>
                </c:pt>
                <c:pt idx="47">
                  <c:v>15400</c:v>
                </c:pt>
                <c:pt idx="48">
                  <c:v>9525</c:v>
                </c:pt>
                <c:pt idx="49">
                  <c:v>15400</c:v>
                </c:pt>
                <c:pt idx="50">
                  <c:v>15400</c:v>
                </c:pt>
                <c:pt idx="51">
                  <c:v>3880</c:v>
                </c:pt>
                <c:pt idx="52">
                  <c:v>6104.95941176</c:v>
                </c:pt>
                <c:pt idx="53">
                  <c:v>15400</c:v>
                </c:pt>
                <c:pt idx="54">
                  <c:v>1600</c:v>
                </c:pt>
                <c:pt idx="55">
                  <c:v>15400</c:v>
                </c:pt>
                <c:pt idx="56">
                  <c:v>15400</c:v>
                </c:pt>
                <c:pt idx="57">
                  <c:v>15400</c:v>
                </c:pt>
                <c:pt idx="58">
                  <c:v>15400</c:v>
                </c:pt>
                <c:pt idx="59">
                  <c:v>3681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3</c:v>
                </c:pt>
                <c:pt idx="16">
                  <c:v>2</c:v>
                </c:pt>
                <c:pt idx="17">
                  <c:v>3</c:v>
                </c:pt>
                <c:pt idx="18">
                  <c:v>2</c:v>
                </c:pt>
                <c:pt idx="19">
                  <c:v>3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3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3</c:v>
                </c:pt>
                <c:pt idx="30">
                  <c:v>1</c:v>
                </c:pt>
                <c:pt idx="31">
                  <c:v>1</c:v>
                </c:pt>
                <c:pt idx="32">
                  <c:v>3</c:v>
                </c:pt>
                <c:pt idx="33">
                  <c:v>2</c:v>
                </c:pt>
                <c:pt idx="34">
                  <c:v>3</c:v>
                </c:pt>
                <c:pt idx="35">
                  <c:v>3</c:v>
                </c:pt>
                <c:pt idx="36">
                  <c:v>2</c:v>
                </c:pt>
                <c:pt idx="37">
                  <c:v>1</c:v>
                </c:pt>
                <c:pt idx="38">
                  <c:v>1</c:v>
                </c:pt>
                <c:pt idx="39">
                  <c:v>3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2</c:v>
                </c:pt>
                <c:pt idx="48">
                  <c:v>2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1</c:v>
                </c:pt>
                <c:pt idx="59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4155"/>
                    </a:solidFill>
                    <a:latin typeface="Arial"/>
                    <a:ea typeface="Arial"/>
                    <a:cs typeface="Arial"/>
                  </a:rPr>
                  <a:t>Category code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415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4155"/>
                    </a:solidFill>
                    <a:latin typeface="Arial"/>
                    <a:ea typeface="Arial"/>
                    <a:cs typeface="Arial"/>
                  </a:rPr>
                  <a:t>Payload mass (kg)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415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Class 1 rate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ES-L1</c:v>
                </c:pt>
                <c:pt idx="1">
                  <c:v>GEO</c:v>
                </c:pt>
                <c:pt idx="2">
                  <c:v>HEO</c:v>
                </c:pt>
                <c:pt idx="3">
                  <c:v>SSO</c:v>
                </c:pt>
                <c:pt idx="4">
                  <c:v>VLEO</c:v>
                </c:pt>
                <c:pt idx="5">
                  <c:v>LEO</c:v>
                </c:pt>
                <c:pt idx="6">
                  <c:v>PO</c:v>
                </c:pt>
                <c:pt idx="7">
                  <c:v>MEO</c:v>
                </c:pt>
                <c:pt idx="8">
                  <c:v>ISS</c:v>
                </c:pt>
                <c:pt idx="9">
                  <c:v>GTO</c:v>
                </c:pt>
                <c:pt idx="10">
                  <c:v>SO</c:v>
                </c:pt>
              </c:strCache>
            </c:strRef>
          </c:cat>
          <c:val>
            <c:numRef>
              <c:f>'Chart Data'!$B$2:$B$12</c:f>
              <c:numCache>
                <c:formatCode>0%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0.857142857143</c:v>
                </c:pt>
                <c:pt idx="5">
                  <c:v>0.714285714286</c:v>
                </c:pt>
                <c:pt idx="6">
                  <c:v>0.666666666667</c:v>
                </c:pt>
                <c:pt idx="7">
                  <c:v>0.666666666667</c:v>
                </c:pt>
                <c:pt idx="8">
                  <c:v>0.619047619048</c:v>
                </c:pt>
                <c:pt idx="9">
                  <c:v>0.518518518519</c:v>
                </c:pt>
                <c:pt idx="10">
                  <c:v>0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4155"/>
                    </a:solidFill>
                    <a:latin typeface="Arial"/>
                    <a:ea typeface="Arial"/>
                    <a:cs typeface="Arial"/>
                  </a:rPr>
                  <a:t>Orbit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415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4155"/>
                    </a:solidFill>
                    <a:latin typeface="Arial"/>
                    <a:ea typeface="Arial"/>
                    <a:cs typeface="Arial"/>
                  </a:rPr>
                  <a:t>Class 1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415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Class 0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7"/>
            <c:spPr>
              <a:solidFill xmlns:a="http://schemas.openxmlformats.org/drawingml/2006/main">
                <a:srgbClr val="DC2626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18</c:v>
                </c:pt>
                <c:pt idx="14">
                  <c:v>19</c:v>
                </c:pt>
                <c:pt idx="15">
                  <c:v>25</c:v>
                </c:pt>
                <c:pt idx="16">
                  <c:v>28</c:v>
                </c:pt>
                <c:pt idx="17">
                  <c:v>31</c:v>
                </c:pt>
                <c:pt idx="18">
                  <c:v>35</c:v>
                </c:pt>
                <c:pt idx="19">
                  <c:v>46</c:v>
                </c:pt>
                <c:pt idx="20">
                  <c:v>47</c:v>
                </c:pt>
                <c:pt idx="21">
                  <c:v>48</c:v>
                </c:pt>
                <c:pt idx="22">
                  <c:v>51</c:v>
                </c:pt>
                <c:pt idx="23">
                  <c:v>52</c:v>
                </c:pt>
                <c:pt idx="24">
                  <c:v>60</c:v>
                </c:pt>
                <c:pt idx="25">
                  <c:v>61</c:v>
                </c:pt>
                <c:pt idx="26">
                  <c:v>68</c:v>
                </c:pt>
                <c:pt idx="27">
                  <c:v>73</c:v>
                </c:pt>
                <c:pt idx="28">
                  <c:v>75</c:v>
                </c:pt>
                <c:pt idx="29">
                  <c:v>77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6</c:v>
                </c:pt>
                <c:pt idx="1">
                  <c:v>6</c:v>
                </c:pt>
                <c:pt idx="2">
                  <c:v>9</c:v>
                </c:pt>
                <c:pt idx="3">
                  <c:v>7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  <c:pt idx="9">
                  <c:v>9</c:v>
                </c:pt>
                <c:pt idx="10">
                  <c:v>9</c:v>
                </c:pt>
                <c:pt idx="11">
                  <c:v>10</c:v>
                </c:pt>
                <c:pt idx="12">
                  <c:v>9</c:v>
                </c:pt>
                <c:pt idx="13">
                  <c:v>7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7</c:v>
                </c:pt>
                <c:pt idx="21">
                  <c:v>9</c:v>
                </c:pt>
                <c:pt idx="22">
                  <c:v>10</c:v>
                </c:pt>
                <c:pt idx="23">
                  <c:v>9</c:v>
                </c:pt>
                <c:pt idx="24">
                  <c:v>9</c:v>
                </c:pt>
                <c:pt idx="25">
                  <c:v>8</c:v>
                </c:pt>
                <c:pt idx="26">
                  <c:v>10</c:v>
                </c:pt>
                <c:pt idx="27">
                  <c:v>11</c:v>
                </c:pt>
                <c:pt idx="28">
                  <c:v>5</c:v>
                </c:pt>
                <c:pt idx="29">
                  <c:v>5</c:v>
                </c:pt>
              </c:numCache>
            </c:numRef>
          </c:yVal>
        </c:ser>
        <c:ser>
          <c:idx val="1"/>
          <c:order val="1"/>
          <c:tx>
            <c:v>Class 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2563EB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7</c:v>
                </c:pt>
                <c:pt idx="1">
                  <c:v>8</c:v>
                </c:pt>
                <c:pt idx="2">
                  <c:v>13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22</c:v>
                </c:pt>
                <c:pt idx="7">
                  <c:v>23</c:v>
                </c:pt>
                <c:pt idx="8">
                  <c:v>24</c:v>
                </c:pt>
                <c:pt idx="9">
                  <c:v>26</c:v>
                </c:pt>
                <c:pt idx="10">
                  <c:v>27</c:v>
                </c:pt>
                <c:pt idx="11">
                  <c:v>29</c:v>
                </c:pt>
                <c:pt idx="12">
                  <c:v>30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36</c:v>
                </c:pt>
                <c:pt idx="17">
                  <c:v>37</c:v>
                </c:pt>
                <c:pt idx="18">
                  <c:v>38</c:v>
                </c:pt>
                <c:pt idx="19">
                  <c:v>39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49</c:v>
                </c:pt>
                <c:pt idx="27">
                  <c:v>50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62</c:v>
                </c:pt>
                <c:pt idx="36">
                  <c:v>63</c:v>
                </c:pt>
                <c:pt idx="37">
                  <c:v>64</c:v>
                </c:pt>
                <c:pt idx="38">
                  <c:v>65</c:v>
                </c:pt>
                <c:pt idx="39">
                  <c:v>66</c:v>
                </c:pt>
                <c:pt idx="40">
                  <c:v>67</c:v>
                </c:pt>
                <c:pt idx="41">
                  <c:v>69</c:v>
                </c:pt>
                <c:pt idx="42">
                  <c:v>70</c:v>
                </c:pt>
                <c:pt idx="43">
                  <c:v>71</c:v>
                </c:pt>
                <c:pt idx="44">
                  <c:v>72</c:v>
                </c:pt>
                <c:pt idx="45">
                  <c:v>74</c:v>
                </c:pt>
                <c:pt idx="46">
                  <c:v>76</c:v>
                </c:pt>
                <c:pt idx="47">
                  <c:v>78</c:v>
                </c:pt>
                <c:pt idx="48">
                  <c:v>79</c:v>
                </c:pt>
                <c:pt idx="49">
                  <c:v>80</c:v>
                </c:pt>
                <c:pt idx="50">
                  <c:v>81</c:v>
                </c:pt>
                <c:pt idx="51">
                  <c:v>82</c:v>
                </c:pt>
                <c:pt idx="52">
                  <c:v>83</c:v>
                </c:pt>
                <c:pt idx="53">
                  <c:v>84</c:v>
                </c:pt>
                <c:pt idx="54">
                  <c:v>85</c:v>
                </c:pt>
                <c:pt idx="55">
                  <c:v>86</c:v>
                </c:pt>
                <c:pt idx="56">
                  <c:v>87</c:v>
                </c:pt>
                <c:pt idx="57">
                  <c:v>88</c:v>
                </c:pt>
                <c:pt idx="58">
                  <c:v>89</c:v>
                </c:pt>
                <c:pt idx="59">
                  <c:v>90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9</c:v>
                </c:pt>
                <c:pt idx="1">
                  <c:v>6</c:v>
                </c:pt>
                <c:pt idx="2">
                  <c:v>1</c:v>
                </c:pt>
                <c:pt idx="3">
                  <c:v>6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9</c:v>
                </c:pt>
                <c:pt idx="8">
                  <c:v>10</c:v>
                </c:pt>
                <c:pt idx="9">
                  <c:v>7</c:v>
                </c:pt>
                <c:pt idx="10">
                  <c:v>9</c:v>
                </c:pt>
                <c:pt idx="11">
                  <c:v>10</c:v>
                </c:pt>
                <c:pt idx="12">
                  <c:v>6</c:v>
                </c:pt>
                <c:pt idx="13">
                  <c:v>9</c:v>
                </c:pt>
                <c:pt idx="14">
                  <c:v>10</c:v>
                </c:pt>
                <c:pt idx="15">
                  <c:v>7</c:v>
                </c:pt>
                <c:pt idx="16">
                  <c:v>9</c:v>
                </c:pt>
                <c:pt idx="17">
                  <c:v>4</c:v>
                </c:pt>
                <c:pt idx="18">
                  <c:v>6</c:v>
                </c:pt>
                <c:pt idx="19">
                  <c:v>7</c:v>
                </c:pt>
                <c:pt idx="20">
                  <c:v>10</c:v>
                </c:pt>
                <c:pt idx="21">
                  <c:v>10</c:v>
                </c:pt>
                <c:pt idx="22">
                  <c:v>9</c:v>
                </c:pt>
                <c:pt idx="23">
                  <c:v>7</c:v>
                </c:pt>
                <c:pt idx="24">
                  <c:v>6</c:v>
                </c:pt>
                <c:pt idx="25">
                  <c:v>10</c:v>
                </c:pt>
                <c:pt idx="26">
                  <c:v>3</c:v>
                </c:pt>
                <c:pt idx="27">
                  <c:v>10</c:v>
                </c:pt>
                <c:pt idx="28">
                  <c:v>10</c:v>
                </c:pt>
                <c:pt idx="29">
                  <c:v>7</c:v>
                </c:pt>
                <c:pt idx="30">
                  <c:v>10</c:v>
                </c:pt>
                <c:pt idx="31">
                  <c:v>10</c:v>
                </c:pt>
                <c:pt idx="32">
                  <c:v>4</c:v>
                </c:pt>
                <c:pt idx="33">
                  <c:v>10</c:v>
                </c:pt>
                <c:pt idx="34">
                  <c:v>4</c:v>
                </c:pt>
                <c:pt idx="35">
                  <c:v>7</c:v>
                </c:pt>
                <c:pt idx="36">
                  <c:v>9</c:v>
                </c:pt>
                <c:pt idx="37">
                  <c:v>9</c:v>
                </c:pt>
                <c:pt idx="38">
                  <c:v>5</c:v>
                </c:pt>
                <c:pt idx="39">
                  <c:v>4</c:v>
                </c:pt>
                <c:pt idx="40">
                  <c:v>9</c:v>
                </c:pt>
                <c:pt idx="41">
                  <c:v>5</c:v>
                </c:pt>
                <c:pt idx="42">
                  <c:v>9</c:v>
                </c:pt>
                <c:pt idx="43">
                  <c:v>10</c:v>
                </c:pt>
                <c:pt idx="44">
                  <c:v>5</c:v>
                </c:pt>
                <c:pt idx="45">
                  <c:v>5</c:v>
                </c:pt>
                <c:pt idx="46">
                  <c:v>9</c:v>
                </c:pt>
                <c:pt idx="47">
                  <c:v>5</c:v>
                </c:pt>
                <c:pt idx="48">
                  <c:v>9</c:v>
                </c:pt>
                <c:pt idx="49">
                  <c:v>5</c:v>
                </c:pt>
                <c:pt idx="50">
                  <c:v>5</c:v>
                </c:pt>
                <c:pt idx="51">
                  <c:v>8</c:v>
                </c:pt>
                <c:pt idx="52">
                  <c:v>2</c:v>
                </c:pt>
                <c:pt idx="53">
                  <c:v>5</c:v>
                </c:pt>
                <c:pt idx="54">
                  <c:v>4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4155"/>
                    </a:solidFill>
                    <a:latin typeface="Arial"/>
                    <a:ea typeface="Arial"/>
                    <a:cs typeface="Arial"/>
                  </a:rPr>
                  <a:t>Category code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415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4155"/>
                    </a:solidFill>
                    <a:latin typeface="Arial"/>
                    <a:ea typeface="Arial"/>
                    <a:cs typeface="Arial"/>
                  </a:rPr>
                  <a:t>Flight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415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Class 0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7"/>
            <c:spPr>
              <a:solidFill xmlns:a="http://schemas.openxmlformats.org/drawingml/2006/main">
                <a:srgbClr val="DC2626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6104.95941176</c:v>
                </c:pt>
                <c:pt idx="1">
                  <c:v>525</c:v>
                </c:pt>
                <c:pt idx="2">
                  <c:v>677</c:v>
                </c:pt>
                <c:pt idx="3">
                  <c:v>500</c:v>
                </c:pt>
                <c:pt idx="4">
                  <c:v>3170</c:v>
                </c:pt>
                <c:pt idx="5">
                  <c:v>3325</c:v>
                </c:pt>
                <c:pt idx="6">
                  <c:v>4535</c:v>
                </c:pt>
                <c:pt idx="7">
                  <c:v>4428</c:v>
                </c:pt>
                <c:pt idx="8">
                  <c:v>2216</c:v>
                </c:pt>
                <c:pt idx="9">
                  <c:v>2395</c:v>
                </c:pt>
                <c:pt idx="10">
                  <c:v>1898</c:v>
                </c:pt>
                <c:pt idx="11">
                  <c:v>4707</c:v>
                </c:pt>
                <c:pt idx="12">
                  <c:v>2477</c:v>
                </c:pt>
                <c:pt idx="13">
                  <c:v>553</c:v>
                </c:pt>
                <c:pt idx="14">
                  <c:v>5271</c:v>
                </c:pt>
                <c:pt idx="15">
                  <c:v>5500</c:v>
                </c:pt>
                <c:pt idx="16">
                  <c:v>5600</c:v>
                </c:pt>
                <c:pt idx="17">
                  <c:v>6070</c:v>
                </c:pt>
                <c:pt idx="18">
                  <c:v>6761</c:v>
                </c:pt>
                <c:pt idx="19">
                  <c:v>6092</c:v>
                </c:pt>
                <c:pt idx="20">
                  <c:v>9600</c:v>
                </c:pt>
                <c:pt idx="21">
                  <c:v>2760</c:v>
                </c:pt>
                <c:pt idx="22">
                  <c:v>5383.85</c:v>
                </c:pt>
                <c:pt idx="23">
                  <c:v>2410</c:v>
                </c:pt>
                <c:pt idx="24">
                  <c:v>2573</c:v>
                </c:pt>
                <c:pt idx="25">
                  <c:v>4400</c:v>
                </c:pt>
                <c:pt idx="26">
                  <c:v>6500</c:v>
                </c:pt>
                <c:pt idx="27">
                  <c:v>6104.95941176</c:v>
                </c:pt>
                <c:pt idx="28">
                  <c:v>15400</c:v>
                </c:pt>
                <c:pt idx="29">
                  <c:v>15600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6</c:v>
                </c:pt>
                <c:pt idx="1">
                  <c:v>6</c:v>
                </c:pt>
                <c:pt idx="2">
                  <c:v>9</c:v>
                </c:pt>
                <c:pt idx="3">
                  <c:v>7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  <c:pt idx="9">
                  <c:v>9</c:v>
                </c:pt>
                <c:pt idx="10">
                  <c:v>9</c:v>
                </c:pt>
                <c:pt idx="11">
                  <c:v>10</c:v>
                </c:pt>
                <c:pt idx="12">
                  <c:v>9</c:v>
                </c:pt>
                <c:pt idx="13">
                  <c:v>7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7</c:v>
                </c:pt>
                <c:pt idx="21">
                  <c:v>9</c:v>
                </c:pt>
                <c:pt idx="22">
                  <c:v>10</c:v>
                </c:pt>
                <c:pt idx="23">
                  <c:v>9</c:v>
                </c:pt>
                <c:pt idx="24">
                  <c:v>9</c:v>
                </c:pt>
                <c:pt idx="25">
                  <c:v>8</c:v>
                </c:pt>
                <c:pt idx="26">
                  <c:v>10</c:v>
                </c:pt>
                <c:pt idx="27">
                  <c:v>11</c:v>
                </c:pt>
                <c:pt idx="28">
                  <c:v>5</c:v>
                </c:pt>
                <c:pt idx="29">
                  <c:v>5</c:v>
                </c:pt>
              </c:numCache>
            </c:numRef>
          </c:yVal>
        </c:ser>
        <c:ser>
          <c:idx val="1"/>
          <c:order val="1"/>
          <c:tx>
            <c:v>Class 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2563EB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2296</c:v>
                </c:pt>
                <c:pt idx="1">
                  <c:v>1316</c:v>
                </c:pt>
                <c:pt idx="2">
                  <c:v>570</c:v>
                </c:pt>
                <c:pt idx="3">
                  <c:v>2034</c:v>
                </c:pt>
                <c:pt idx="4">
                  <c:v>3136</c:v>
                </c:pt>
                <c:pt idx="5">
                  <c:v>4696</c:v>
                </c:pt>
                <c:pt idx="6">
                  <c:v>3100</c:v>
                </c:pt>
                <c:pt idx="7">
                  <c:v>2257</c:v>
                </c:pt>
                <c:pt idx="8">
                  <c:v>4600</c:v>
                </c:pt>
                <c:pt idx="9">
                  <c:v>9600</c:v>
                </c:pt>
                <c:pt idx="10">
                  <c:v>2490</c:v>
                </c:pt>
                <c:pt idx="11">
                  <c:v>5300</c:v>
                </c:pt>
                <c:pt idx="12">
                  <c:v>6104.95941176</c:v>
                </c:pt>
                <c:pt idx="13">
                  <c:v>2708</c:v>
                </c:pt>
                <c:pt idx="14">
                  <c:v>3669</c:v>
                </c:pt>
                <c:pt idx="15">
                  <c:v>9600</c:v>
                </c:pt>
                <c:pt idx="16">
                  <c:v>2910</c:v>
                </c:pt>
                <c:pt idx="17">
                  <c:v>475</c:v>
                </c:pt>
                <c:pt idx="18">
                  <c:v>4990</c:v>
                </c:pt>
                <c:pt idx="19">
                  <c:v>9600</c:v>
                </c:pt>
                <c:pt idx="20">
                  <c:v>5200</c:v>
                </c:pt>
                <c:pt idx="21">
                  <c:v>3700</c:v>
                </c:pt>
                <c:pt idx="22">
                  <c:v>2205</c:v>
                </c:pt>
                <c:pt idx="23">
                  <c:v>9600</c:v>
                </c:pt>
                <c:pt idx="24">
                  <c:v>6104.95941176</c:v>
                </c:pt>
                <c:pt idx="25">
                  <c:v>4230</c:v>
                </c:pt>
                <c:pt idx="26">
                  <c:v>350</c:v>
                </c:pt>
                <c:pt idx="27">
                  <c:v>3750</c:v>
                </c:pt>
                <c:pt idx="28">
                  <c:v>7076</c:v>
                </c:pt>
                <c:pt idx="29">
                  <c:v>9600</c:v>
                </c:pt>
                <c:pt idx="30">
                  <c:v>5800</c:v>
                </c:pt>
                <c:pt idx="31">
                  <c:v>7060</c:v>
                </c:pt>
                <c:pt idx="32">
                  <c:v>2800</c:v>
                </c:pt>
                <c:pt idx="33">
                  <c:v>3000</c:v>
                </c:pt>
                <c:pt idx="34">
                  <c:v>4000</c:v>
                </c:pt>
                <c:pt idx="35">
                  <c:v>9600</c:v>
                </c:pt>
                <c:pt idx="36">
                  <c:v>12259</c:v>
                </c:pt>
                <c:pt idx="37">
                  <c:v>2482</c:v>
                </c:pt>
                <c:pt idx="38">
                  <c:v>13620</c:v>
                </c:pt>
                <c:pt idx="39">
                  <c:v>1425</c:v>
                </c:pt>
                <c:pt idx="40">
                  <c:v>2227.7</c:v>
                </c:pt>
                <c:pt idx="41">
                  <c:v>15600</c:v>
                </c:pt>
                <c:pt idx="42">
                  <c:v>5000</c:v>
                </c:pt>
                <c:pt idx="43">
                  <c:v>6800</c:v>
                </c:pt>
                <c:pt idx="44">
                  <c:v>15400</c:v>
                </c:pt>
                <c:pt idx="45">
                  <c:v>15600</c:v>
                </c:pt>
                <c:pt idx="46">
                  <c:v>1977</c:v>
                </c:pt>
                <c:pt idx="47">
                  <c:v>15400</c:v>
                </c:pt>
                <c:pt idx="48">
                  <c:v>9525</c:v>
                </c:pt>
                <c:pt idx="49">
                  <c:v>15400</c:v>
                </c:pt>
                <c:pt idx="50">
                  <c:v>15400</c:v>
                </c:pt>
                <c:pt idx="51">
                  <c:v>3880</c:v>
                </c:pt>
                <c:pt idx="52">
                  <c:v>6104.95941176</c:v>
                </c:pt>
                <c:pt idx="53">
                  <c:v>15400</c:v>
                </c:pt>
                <c:pt idx="54">
                  <c:v>1600</c:v>
                </c:pt>
                <c:pt idx="55">
                  <c:v>15400</c:v>
                </c:pt>
                <c:pt idx="56">
                  <c:v>15400</c:v>
                </c:pt>
                <c:pt idx="57">
                  <c:v>15400</c:v>
                </c:pt>
                <c:pt idx="58">
                  <c:v>15400</c:v>
                </c:pt>
                <c:pt idx="59">
                  <c:v>3681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9</c:v>
                </c:pt>
                <c:pt idx="1">
                  <c:v>6</c:v>
                </c:pt>
                <c:pt idx="2">
                  <c:v>1</c:v>
                </c:pt>
                <c:pt idx="3">
                  <c:v>6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9</c:v>
                </c:pt>
                <c:pt idx="8">
                  <c:v>10</c:v>
                </c:pt>
                <c:pt idx="9">
                  <c:v>7</c:v>
                </c:pt>
                <c:pt idx="10">
                  <c:v>9</c:v>
                </c:pt>
                <c:pt idx="11">
                  <c:v>10</c:v>
                </c:pt>
                <c:pt idx="12">
                  <c:v>6</c:v>
                </c:pt>
                <c:pt idx="13">
                  <c:v>9</c:v>
                </c:pt>
                <c:pt idx="14">
                  <c:v>10</c:v>
                </c:pt>
                <c:pt idx="15">
                  <c:v>7</c:v>
                </c:pt>
                <c:pt idx="16">
                  <c:v>9</c:v>
                </c:pt>
                <c:pt idx="17">
                  <c:v>4</c:v>
                </c:pt>
                <c:pt idx="18">
                  <c:v>6</c:v>
                </c:pt>
                <c:pt idx="19">
                  <c:v>7</c:v>
                </c:pt>
                <c:pt idx="20">
                  <c:v>10</c:v>
                </c:pt>
                <c:pt idx="21">
                  <c:v>10</c:v>
                </c:pt>
                <c:pt idx="22">
                  <c:v>9</c:v>
                </c:pt>
                <c:pt idx="23">
                  <c:v>7</c:v>
                </c:pt>
                <c:pt idx="24">
                  <c:v>6</c:v>
                </c:pt>
                <c:pt idx="25">
                  <c:v>10</c:v>
                </c:pt>
                <c:pt idx="26">
                  <c:v>3</c:v>
                </c:pt>
                <c:pt idx="27">
                  <c:v>10</c:v>
                </c:pt>
                <c:pt idx="28">
                  <c:v>10</c:v>
                </c:pt>
                <c:pt idx="29">
                  <c:v>7</c:v>
                </c:pt>
                <c:pt idx="30">
                  <c:v>10</c:v>
                </c:pt>
                <c:pt idx="31">
                  <c:v>10</c:v>
                </c:pt>
                <c:pt idx="32">
                  <c:v>4</c:v>
                </c:pt>
                <c:pt idx="33">
                  <c:v>10</c:v>
                </c:pt>
                <c:pt idx="34">
                  <c:v>4</c:v>
                </c:pt>
                <c:pt idx="35">
                  <c:v>7</c:v>
                </c:pt>
                <c:pt idx="36">
                  <c:v>9</c:v>
                </c:pt>
                <c:pt idx="37">
                  <c:v>9</c:v>
                </c:pt>
                <c:pt idx="38">
                  <c:v>5</c:v>
                </c:pt>
                <c:pt idx="39">
                  <c:v>4</c:v>
                </c:pt>
                <c:pt idx="40">
                  <c:v>9</c:v>
                </c:pt>
                <c:pt idx="41">
                  <c:v>5</c:v>
                </c:pt>
                <c:pt idx="42">
                  <c:v>9</c:v>
                </c:pt>
                <c:pt idx="43">
                  <c:v>10</c:v>
                </c:pt>
                <c:pt idx="44">
                  <c:v>5</c:v>
                </c:pt>
                <c:pt idx="45">
                  <c:v>5</c:v>
                </c:pt>
                <c:pt idx="46">
                  <c:v>9</c:v>
                </c:pt>
                <c:pt idx="47">
                  <c:v>5</c:v>
                </c:pt>
                <c:pt idx="48">
                  <c:v>9</c:v>
                </c:pt>
                <c:pt idx="49">
                  <c:v>5</c:v>
                </c:pt>
                <c:pt idx="50">
                  <c:v>5</c:v>
                </c:pt>
                <c:pt idx="51">
                  <c:v>8</c:v>
                </c:pt>
                <c:pt idx="52">
                  <c:v>2</c:v>
                </c:pt>
                <c:pt idx="53">
                  <c:v>5</c:v>
                </c:pt>
                <c:pt idx="54">
                  <c:v>4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4155"/>
                    </a:solidFill>
                    <a:latin typeface="Arial"/>
                    <a:ea typeface="Arial"/>
                    <a:cs typeface="Arial"/>
                  </a:rPr>
                  <a:t>Category code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415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4155"/>
                    </a:solidFill>
                    <a:latin typeface="Arial"/>
                    <a:ea typeface="Arial"/>
                    <a:cs typeface="Arial"/>
                  </a:rPr>
                  <a:t>Payload mass (kg)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415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Class 1 rate</c:v>
          </c:tx>
          <c:spPr>
            <a:ln xmlns:a="http://schemas.openxmlformats.org/drawingml/2006/main" w="28575">
              <a:solidFill>
                <a:srgbClr val="2563E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563EB"/>
              </a:solidFill>
            </c:spPr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'Chart Data'!$B$2:$B$11</c:f>
              <c:numCache>
                <c:formatCode>0%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0.333333333333</c:v>
                </c:pt>
                <c:pt idx="4">
                  <c:v>0.333333333333</c:v>
                </c:pt>
                <c:pt idx="5">
                  <c:v>0.625</c:v>
                </c:pt>
                <c:pt idx="6">
                  <c:v>0.833333333333</c:v>
                </c:pt>
                <c:pt idx="7">
                  <c:v>0.611111111111</c:v>
                </c:pt>
                <c:pt idx="8">
                  <c:v>0.9</c:v>
                </c:pt>
                <c:pt idx="9">
                  <c:v>0.842105263158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4155"/>
                    </a:solidFill>
                    <a:latin typeface="Arial"/>
                    <a:ea typeface="Arial"/>
                    <a:cs typeface="Arial"/>
                  </a:rPr>
                  <a:t>Year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415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4155"/>
                    </a:solidFill>
                    <a:latin typeface="Arial"/>
                    <a:ea typeface="Arial"/>
                    <a:cs typeface="Arial"/>
                  </a:rPr>
                  <a:t>Class 1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415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Training CV</c:v>
          </c:tx>
          <c:spPr>
            <a:solidFill xmlns:a="http://schemas.openxmlformats.org/drawingml/2006/main">
              <a:srgbClr val="64748B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Logistic regression</c:v>
                </c:pt>
                <c:pt idx="1">
                  <c:v>SVM</c:v>
                </c:pt>
                <c:pt idx="2">
                  <c:v>Decision tree</c:v>
                </c:pt>
                <c:pt idx="3">
                  <c:v>KNN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0.848571428571</c:v>
                </c:pt>
                <c:pt idx="1">
                  <c:v>0.888571428571</c:v>
                </c:pt>
                <c:pt idx="2">
                  <c:v>0.86</c:v>
                </c:pt>
                <c:pt idx="3">
                  <c:v>0.860952380952</c:v>
                </c:pt>
              </c:numCache>
            </c:numRef>
          </c:val>
        </c:ser>
        <c:ser>
          <c:idx val="1"/>
          <c:order val="1"/>
          <c:tx>
            <c:v>Held-out test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Logistic regression</c:v>
                </c:pt>
                <c:pt idx="1">
                  <c:v>SVM</c:v>
                </c:pt>
                <c:pt idx="2">
                  <c:v>Decision tree</c:v>
                </c:pt>
                <c:pt idx="3">
                  <c:v>KNN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0.777777777778</c:v>
                </c:pt>
                <c:pt idx="1">
                  <c:v>0.777777777778</c:v>
                </c:pt>
                <c:pt idx="2">
                  <c:v>0.833333333333</c:v>
                </c:pt>
                <c:pt idx="3">
                  <c:v>0.777777777778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4155"/>
                    </a:solidFill>
                    <a:latin typeface="Arial"/>
                    <a:ea typeface="Arial"/>
                    <a:cs typeface="Arial"/>
                  </a:rPr>
                  <a:t>Classifier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415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334155"/>
                    </a:solidFill>
                    <a:latin typeface="Arial"/>
                    <a:ea typeface="Arial"/>
                    <a:cs typeface="Arial"/>
                  </a:rPr>
                  <a:t>Accuracy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3415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D1B54641-011E-4917-B379-162C1F5C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SPACEX FALCON 9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9D7131A-C07A-4F93-AA83-308A62DE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Data Science Capstone Project Report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2C64FD7-67C9-4EB9-93B4-F42F286E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F1B0C728-36AC-45E4-B65B-8DED7DFB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50ECDF94-2CA6-4ACF-9BCE-6A93170A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6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Predicting historical</a:t>
            </a:r>
          </a:p>
          <a:p xmlns:a="http://schemas.openxmlformats.org/drawingml/2006/main">
            <a:pPr>
              <a:defRPr sz="36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first-stage landing outcomes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4BE9CE3-C991-4000-A168-6D2A1921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11125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API collection | Web scraping | SQL | Visual EDA</a:t>
            </a:r>
          </a:p>
          <a:p xmlns:a="http://schemas.openxmlformats.org/drawingml/2006/main">
            <a: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Folium mapping | Dash dashboard | Machine learning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E8998F0-639D-4CED-A76F-29D8CA2C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Original reproducible analysis with documented historical samples</a:t>
            </a:r>
          </a:p>
        </p:txBody>
      </p:sp>
    </p:spTree>
    <p:extLst>
      <p:ext uri="{BB962C8B-B14F-4D97-AF65-F5344CB8AC3E}">
        <p14:creationId xmlns:p14="http://schemas.microsoft.com/office/powerpoint/2010/main" val="4274878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9B4ECB65-8815-4683-B9E0-5BE9440A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49FB77F-5335-4917-90CB-223F726A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8CB9333-A448-4489-B8B7-009C2559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ED8CD396-EEE7-446B-ABCB-BD28BBCC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7760170-8FA4-4FCA-BFF7-FDE6138E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Methods: enrich API records, scrape launch tables, create landing labels, run 11 SQL queries and six EDA charts, map geography, build Dash filters, and tune four classifier families.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A77097C-6E18-4D7D-97E4-577860BD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1125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Results: 60 of 90 launches have Class 1 labels (66.7%). SVM leads training CV at 88.9%; held-out accuracy is 77.8% on 18 launches. All 12 successes are detected, but four class-0 cases are predicted successful.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8CB7A32-ABFF-4BF4-B97E-98948EED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1125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Decision: promising historical associations require caution. A temporal test reaches 88.9% against an 83.3% majority baseline. Labels, small samples and changing launch eras limit operational use.</a:t>
            </a:r>
          </a:p>
        </p:txBody>
      </p:sp>
    </p:spTree>
    <p:extLst>
      <p:ext uri="{BB962C8B-B14F-4D97-AF65-F5344CB8AC3E}">
        <p14:creationId xmlns:p14="http://schemas.microsoft.com/office/powerpoint/2010/main" val="630477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F58CCA65-1D24-4825-94C3-FD76E6C6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806B74A-0F78-4D3A-A9A4-D1E6A81A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Introduction: the business question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07DFCC6-5352-43B9-9E37-88945E03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DE6E0755-0871-4F06-AB15-C9967EFC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F82B82E-9943-4F3A-AC2D-799797C7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Reusable first stages can affect launch economics. This project studies whether historical launch characteristics help predict the observed first-stage landing label.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A438817-FA49-4CE7-B29A-3E8F931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111252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Question: how do launch site, orbit, payload, booster configuration and flight sequence relate to landing outcomes, and which classifier generalizes best within these data?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82CE218-68ED-42C2-9F4D-CD624476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111252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Scope: Falcon 9 historical records. No cost data are supplied, so landing probabilities are not converted into a claimed launch price or savings estimate.</a:t>
            </a:r>
          </a:p>
        </p:txBody>
      </p:sp>
    </p:spTree>
    <p:extLst>
      <p:ext uri="{BB962C8B-B14F-4D97-AF65-F5344CB8AC3E}">
        <p14:creationId xmlns:p14="http://schemas.microsoft.com/office/powerpoint/2010/main" val="1441364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AB5029E9-33AE-4FB0-B832-C1A9DBB3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DATA PROVENANCE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06787513-145E-49DC-863C-7C55EBB4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Three samples, three distinct purposes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F3FBDD2-761B-4EAA-AFEF-F8774700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895913B6-BDBB-458F-9890-95206CA7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000CD-7F67-4440-9D50-014A40A5D5F6}"/>
              </a:ext>
            </a:extLst>
          </p:cNvPr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524250"/>
                <a:gridCol w="3695700"/>
              </a:tblGrid>
              <a:tr h="6810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Sample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 / dates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Used for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IBM API-derived snapshot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90 | Jun 2010-Nov 2020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Visual EDA and prediction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Wikipedia fixed revision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122 | Jun 2010-Jun 2021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Scraping and SQL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IBM Dash / geographic sample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56 | 2010-2018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Dashboard and maps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73B6288-D346-4AB1-8E2D-DD1B5104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Samples are analyzed separately. Differences in counts and outcome definitions are explained; percentages from different samples are not interchangeable.</a:t>
            </a:r>
          </a:p>
        </p:txBody>
      </p:sp>
    </p:spTree>
    <p:extLst>
      <p:ext uri="{BB962C8B-B14F-4D97-AF65-F5344CB8AC3E}">
        <p14:creationId xmlns:p14="http://schemas.microsoft.com/office/powerpoint/2010/main" val="11305890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F4CB19EA-C30C-4B2C-85BD-A3F48277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32222A31-7BBA-4C7E-9969-FC9C0D13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Data collection: SpaceX API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0C31A79-61E0-4631-8635-09D19B92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https://github.com/giusdp45/spacex-landing-capstone/blob/main/notebooks/01_API_Data_Collection.ipynb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EA5D9C00-2868-48F4-A866-0DD4594B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5A38E10-A143-449D-BFEA-328AA810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GET /v4/launches/past -&gt; enrich rockets, payloads, cores and launchpads -&gt; retain Falcon 9, one payload and one core -&gt; restrict date -&gt; normalize records to a pandas DataFrame.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D26B5CA-0E8A-41BA-B671-A273CE02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Collected fields include date, flight number, payload mass, orbit, site, core flights, grid fins, legs, reuse, block, serial, coordinates and landing outcome.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356C616-C16D-4C63-B75C-A722D7F0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The live endpoint returned HTTP 525. The executed notebook records this error and loads the official frozen 90-row course snapshot. Live collection is reproducible code, with a transparent fallback.</a:t>
            </a:r>
          </a:p>
        </p:txBody>
      </p:sp>
    </p:spTree>
    <p:extLst>
      <p:ext uri="{BB962C8B-B14F-4D97-AF65-F5344CB8AC3E}">
        <p14:creationId xmlns:p14="http://schemas.microsoft.com/office/powerpoint/2010/main" val="14911210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391DE676-DD00-4995-B194-0AD86C26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43B9F68-4F6A-48D6-BADE-32941898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Data collection: web scraping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E094582-35AE-46D7-83A0-A5412822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https://github.com/giusdp45/spacex-landing-capstone/blob/main/notebooks/02_Web_Scraping.ipynb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62C938E6-A11B-45B2-8132-1B646F6F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21EE077-FF5D-498A-B9CB-A172734E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Download fixed Wikipedia revision 1027686922 -&gt; BeautifulSoup finds launch wikitables -&gt; pandas reads cells -&gt; remove description rows, footnotes and Falcon Heavy records.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0FB8125-06F0-4A2B-B6A7-FDCC42AA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Parse date and kilograms; preserve unknown mass as missing. Separate mission launch success from booster landing result and landing type. Remove duplicate flight numbers and sort chronologically.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D834289-3475-479D-8888-99C576CA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Output: 122 Falcon 9 records through 2021-06-06, with five unknown payload masses. Historical site names remain visible, including Cape Canaveral naming changes.</a:t>
            </a:r>
          </a:p>
        </p:txBody>
      </p:sp>
    </p:spTree>
    <p:extLst>
      <p:ext uri="{BB962C8B-B14F-4D97-AF65-F5344CB8AC3E}">
        <p14:creationId xmlns:p14="http://schemas.microsoft.com/office/powerpoint/2010/main" val="5282926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830CD0F8-27E5-414E-84F6-FCE7169E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8C8886D-95F5-4BED-8554-311D872C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Data wrangling: define the target carefully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30A3DE0-526A-4C06-AC36-7F6331EF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https://github.com/giusdp45/spacex-landing-capstone/blob/main/notebooks/03_Data_Wrangling.ipynb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B0BAFE2A-0B20-4E86-90D8-5EDD2E76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41E0AC5-38DD-488B-AC32-DB4C19B4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Class 0: False ASDS, False Ocean, False RTLS, None ASDS and None None. All other outcomes map to Class 1. The calculated labels match the course reference: 60 ones and 30 zeros.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8B85DA3-2386-41BC-AF51-F3204D3A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Validate unique flight numbers and numeric fields. For modeling, reverse the frozen payload mean-imputation sentinel; median imputation, standardization and one-hot encoding fit inside each training fold.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2FD58CC-F013-45DF-9E52-59D6A584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Outcome, landing pad, serial and eventual reuse count are omitted from predictors. Class 0 includes no attempt and unknown; Class 1 includes True Ocean, so this is not a direct booster-reuse target.</a:t>
            </a:r>
          </a:p>
        </p:txBody>
      </p:sp>
    </p:spTree>
    <p:extLst>
      <p:ext uri="{BB962C8B-B14F-4D97-AF65-F5344CB8AC3E}">
        <p14:creationId xmlns:p14="http://schemas.microsoft.com/office/powerpoint/2010/main" val="19402002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F8E925CC-24BD-45E3-84BA-F33C7740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F5B50A66-6F56-428D-B429-53467E62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Visual EDA: what each chart examines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B8BEF40-E03B-482A-AE0D-69309B60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https://github.com/giusdp45/spacex-landing-capstone/blob/main/notebooks/05_EDA_Visualization.ipynb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FE7572CA-2257-4468-9D9A-92547AB5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590AD-8F05-4224-B71E-B73D931CD961}"/>
              </a:ext>
            </a:extLst>
          </p:cNvPr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514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Chart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Analytical purpose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Flight number vs site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Compare launch era and outcome across sites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Payload vs site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Compare mass ranges and outcomes by site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Success rate by orbit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Identify differences, with group sample sizes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Flight number vs orbit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See changing orbit mix and experience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Payload vs orbit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Examine mission energy / mass associations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Annual success trend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Track historical changes and exceptions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391FDBB-5769-4D86-99DA-E47C0366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Color identifies Class 0 versus Class 1. These are descriptive relationships; site and orbit choices can be confounded by mission type and era.</a:t>
            </a:r>
          </a:p>
        </p:txBody>
      </p:sp>
    </p:spTree>
    <p:extLst>
      <p:ext uri="{BB962C8B-B14F-4D97-AF65-F5344CB8AC3E}">
        <p14:creationId xmlns:p14="http://schemas.microsoft.com/office/powerpoint/2010/main" val="1971113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2F88F842-0B70-4C7E-A67E-EC43DBF7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140CF5F-B457-4EF7-BE8E-6A62555C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SQL EDA: turn questions into queries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A4FB7A5-8628-46ED-8CDA-567E633B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https://github.com/giusdp45/spacex-landing-capstone/blob/main/notebooks/04_EDA_SQL.ipynb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C7811C91-6ED2-4D98-B086-6E440066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1CE3B15-72E3-4A68-AD01-9532048B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Store the scraped table in SQLite. DISTINCT and LIKE identify sites and initial launches; SUM and AVG summarize NASA CRS payload and Falcon 9 v1.1 payload.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A752379-9E7C-4249-B0E7-C3802C25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MIN(Date) identifies the first successful ground landing. WHERE filters successful drone landings with payload 4,000-6,000 kg and failed drone landings in 2015.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8068D22-6C8D-4801-BA03-97A1E3D2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GROUP BY counts launch outcomes and site success rates. A MAX subquery returns all maximum-payload boosters. Date filtering and ORDER BY rank historical landing outcomes. All 11 query outputs are retained.</a:t>
            </a:r>
          </a:p>
        </p:txBody>
      </p:sp>
    </p:spTree>
    <p:extLst>
      <p:ext uri="{BB962C8B-B14F-4D97-AF65-F5344CB8AC3E}">
        <p14:creationId xmlns:p14="http://schemas.microsoft.com/office/powerpoint/2010/main" val="9751709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D990F24D-BDAE-4B11-96B1-82D32373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23D7976-96EA-407F-9977-81A4A596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Interactive analytics: Folium and Dash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952688E-B0CD-436F-8A5A-94296E4D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https://github.com/giusdp45/spacex-landing-capstone/blob/main/scripts/spacex_dash_app.py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FC2BEA3C-6A97-48B7-8729-01D824AD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9449B7E-206A-4EDE-A629-2D4CEFAA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Folium: plot four historical site labels, cluster 56 records with green/red landing markers, add launch/date popups and measure geographic proximity using OpenStreetMap segments.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09A07E2-98FE-4296-9A59-4D09A285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Dash: launch-site dropdown updates success pie charts; payload RangeSlider and site selection update the mass-versus-class scatter, colored by booster version.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F198453-55F3-46C3-9C0A-A77B3609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The 56-row sample has 24 Class 1 records. Charts distinguish a site's share of all successes from its within-site success rate.</a:t>
            </a:r>
          </a:p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Folium code: https://github.com/giusdp45/spacex-landing-capstone/blob/main/scripts/build_maps.py</a:t>
            </a:r>
          </a:p>
        </p:txBody>
      </p:sp>
    </p:spTree>
    <p:extLst>
      <p:ext uri="{BB962C8B-B14F-4D97-AF65-F5344CB8AC3E}">
        <p14:creationId xmlns:p14="http://schemas.microsoft.com/office/powerpoint/2010/main" val="16536633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8D2B7A27-4DA3-456E-B625-77985C66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VISUAL EDA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3FF465D7-2C6B-45C3-9D09-E1550EF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Flight number vs launch site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5E46CBE-9052-46CE-ABC9-C59D7BF3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E192F800-C399-4FC2-85C3-7EFE470C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5F0D797-636A-4A46-BC31-84C427681E03}"/>
              </a:ext>
            </a:extLst>
          </p:cNvPr>
          <p:cNvGraphicFramePr/>
          <p:nvPr/>
        </p:nvGraphicFramePr>
        <p:xfrm>
          <a:off xmlns:a="http://schemas.openxmlformats.org/drawingml/2006/main" x="533400" y="14859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68b07899ff41c7"/>
          </a:graphicData>
        </a:graphic>
      </p:graphicFrame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075754BE-1065-477F-82AE-F3FA2EC9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 = CCAFS SLC 40   |   2 = KSC LC 39A   |   3 = VAFB SLC 4E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40980DC-40E4-4027-975D-226A6157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Later flights contain more successful labels. KSC and VAFB have rates near 77%, versus 60% for CCAFS; site effects also reflect launch era and mission mix.</a:t>
            </a:r>
          </a:p>
        </p:txBody>
      </p:sp>
    </p:spTree>
    <p:extLst>
      <p:ext uri="{BB962C8B-B14F-4D97-AF65-F5344CB8AC3E}">
        <p14:creationId xmlns:p14="http://schemas.microsoft.com/office/powerpoint/2010/main" val="14519165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3DB1BE6F-0597-43AD-AD8B-550E90B7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VISUAL EDA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62D1772-6D2C-46A6-8BE8-96422510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Payload mass vs launch site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66CEABC-E2BC-4EE9-A360-34D08F20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13B0E140-5179-4A2B-B3A9-F25B4AAD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AB508CB-457C-41EF-8FD8-B6CE4400FCEB}"/>
              </a:ext>
            </a:extLst>
          </p:cNvPr>
          <p:cNvGraphicFramePr/>
          <p:nvPr/>
        </p:nvGraphicFramePr>
        <p:xfrm>
          <a:off xmlns:a="http://schemas.openxmlformats.org/drawingml/2006/main" x="533400" y="14859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c8265d521c4eaf"/>
          </a:graphicData>
        </a:graphic>
      </p:graphicFrame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96A2BD38-9A90-42BE-BB86-97D5A5FC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 = CCAFS SLC 40   |   2 = KSC LC 39A   |   3 = VAFB SLC 4E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06D5B3A-182F-4CDE-801A-A4B31C89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Success and class-0 outcomes overlap in payload mass. VAFB occupies a narrower mass range; payload alone does not separate landing outcomes.</a:t>
            </a:r>
          </a:p>
        </p:txBody>
      </p:sp>
    </p:spTree>
    <p:extLst>
      <p:ext uri="{BB962C8B-B14F-4D97-AF65-F5344CB8AC3E}">
        <p14:creationId xmlns:p14="http://schemas.microsoft.com/office/powerpoint/2010/main" val="12759206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DD8E22EE-AE97-43B9-9748-7015D9CE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VISUAL EDA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5A9B6D8E-449A-4472-9D37-58C8393E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Landing success rate by orbit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D61CABB-86C6-443F-A14B-995D2C11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CCF74588-BEDA-449C-B0C5-87D6A670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C38EAAC-3041-45B9-A3A8-393D6C23A90A}"/>
              </a:ext>
            </a:extLst>
          </p:cNvPr>
          <p:cNvGraphicFramePr/>
          <p:nvPr/>
        </p:nvGraphicFramePr>
        <p:xfrm>
          <a:off xmlns:a="http://schemas.openxmlformats.org/drawingml/2006/main" x="533400" y="14859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0963eaaaac4408"/>
          </a:graphicData>
        </a:graphic>
      </p:graphicFrame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D1E6CC43-A19D-463C-BB6B-8F71C0C4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n: ES-L1=1 | GEO=1 | HEO=1 | SSO=5 | VLEO=14 | LEO=7 | PO=9 | MEO=3 | ISS=21 | GTO=27 | SO=1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3D73C7B-7DED-476D-A249-DBB9000D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95925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GTO: 51.9% (27 launches); ISS: 61.9% (21); VLEO: 85.7% (14). Several 100% rates come from only one launch, so they provide little evidence.</a:t>
            </a:r>
          </a:p>
        </p:txBody>
      </p:sp>
    </p:spTree>
    <p:extLst>
      <p:ext uri="{BB962C8B-B14F-4D97-AF65-F5344CB8AC3E}">
        <p14:creationId xmlns:p14="http://schemas.microsoft.com/office/powerpoint/2010/main" val="10593577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7DCDC783-437A-4237-93A7-6FDD8C31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VISUAL EDA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B09B30C-E8AE-449B-9031-15D7F8DF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Flight number vs orbit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7FBD46D-AD07-4CCC-8D04-E73CD1C1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9BC0E645-F6C2-41E7-98CC-FB0C80FD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F70FEEE-19F5-4D28-9877-EEF56E84DCB6}"/>
              </a:ext>
            </a:extLst>
          </p:cNvPr>
          <p:cNvGraphicFramePr/>
          <p:nvPr/>
        </p:nvGraphicFramePr>
        <p:xfrm>
          <a:off xmlns:a="http://schemas.openxmlformats.org/drawingml/2006/main" x="533400" y="14859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9d4994383345eb"/>
          </a:graphicData>
        </a:graphic>
      </p:graphicFrame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EA559368-8353-45CC-B927-E54DD444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 = ES-L1   |   2 = GEO   |   3 = HEO   |   4 = SSO   |   5 = VLEO   |   6 = LEO   |   7 = PO   |   8 = MEO   |   9 = ISS   |   10 = GTO   |   11 = SO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852476E-E6BC-4814-A374-6A098921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Orbit mix changes over time. VLEO launches occur later and mostly succeed; temporal experience and mission selection should be considered together.</a:t>
            </a:r>
          </a:p>
        </p:txBody>
      </p:sp>
    </p:spTree>
    <p:extLst>
      <p:ext uri="{BB962C8B-B14F-4D97-AF65-F5344CB8AC3E}">
        <p14:creationId xmlns:p14="http://schemas.microsoft.com/office/powerpoint/2010/main" val="706193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E87C037C-E504-4B28-B43D-B348E910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VISUAL EDA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67CE133-FDB9-46D4-9270-F2D2D54F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Payload mass vs orbit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E0A954D-53A7-4B86-B9A6-6F87916E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F9A292C2-EAE5-400B-901D-ECD791C3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88369BA-F3F1-4675-9951-FD5082C24BA2}"/>
              </a:ext>
            </a:extLst>
          </p:cNvPr>
          <p:cNvGraphicFramePr/>
          <p:nvPr/>
        </p:nvGraphicFramePr>
        <p:xfrm>
          <a:off xmlns:a="http://schemas.openxmlformats.org/drawingml/2006/main" x="533400" y="14859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4474b7e21546ea"/>
          </a:graphicData>
        </a:graphic>
      </p:graphicFrame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BAA3B8C8-CDFE-438F-A7FA-286ED1EA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 = ES-L1   |   2 = GEO   |   3 = HEO   |   4 = SSO   |   5 = VLEO   |   6 = LEO   |   7 = PO   |   8 = MEO   |   9 = ISS   |   10 = GTO   |   11 = SO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6A88E22-F14C-4F5D-ABA0-EA792008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Large VLEO payloads can coincide with successful landings. GTO outcomes are mixed. Orbital mission requirements matter alongside mass; the plot cannot establish a causal threshold.</a:t>
            </a:r>
          </a:p>
        </p:txBody>
      </p:sp>
    </p:spTree>
    <p:extLst>
      <p:ext uri="{BB962C8B-B14F-4D97-AF65-F5344CB8AC3E}">
        <p14:creationId xmlns:p14="http://schemas.microsoft.com/office/powerpoint/2010/main" val="5629893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C00684EF-BA16-4C26-9E71-CE807DA2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VISUAL EDA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B486EEB-FCF0-48DC-86B0-B3B6F839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Success changes across launch years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08239D1-04F9-4386-B8C6-043CDFB3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4A7AE2AB-D8FC-49B5-A753-2467C44C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CE0D68F-12DD-47B4-B16B-ED2F37A17292}"/>
              </a:ext>
            </a:extLst>
          </p:cNvPr>
          <p:cNvGraphicFramePr/>
          <p:nvPr/>
        </p:nvGraphicFramePr>
        <p:xfrm>
          <a:off xmlns:a="http://schemas.openxmlformats.org/drawingml/2006/main" x="533400" y="14859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3ca1c47c9243d8"/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9F00A52-4048-4C4D-B292-4A234E1B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Success reaches 90.0% in 2019 and 84.2% in 2020, with a dip to 61.1% in 2018. No 2011 record appears in this filtered sample; early years have very small counts.</a:t>
            </a:r>
          </a:p>
        </p:txBody>
      </p:sp>
    </p:spTree>
    <p:extLst>
      <p:ext uri="{BB962C8B-B14F-4D97-AF65-F5344CB8AC3E}">
        <p14:creationId xmlns:p14="http://schemas.microsoft.com/office/powerpoint/2010/main" val="12711281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21C3F80F-03F7-4F97-972A-B685171D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SQL RESULTS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597A392C-56F8-4A3E-AED4-D77723A1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SQL results: sites and the first five CCAFS launches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2D95188-2593-4BA9-80D3-62B9492B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5D7A04A6-8796-403B-B199-97F02129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514CA9A-BAE7-461D-BD5E-990F9CC8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Six site strings: CCAFS SLC 40; CCSFS SLC 40; Cape Canaveral LC 40; Cape Canaveral SLC 40; KSC LC 39A; VAFB SLC 4E.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F4E4A-B148-4ACF-8B32-FFF803DC93AF}"/>
              </a:ext>
            </a:extLst>
          </p:cNvPr>
          <p:cNvGraphicFramePr/>
          <p:nvPr/>
        </p:nvGraphicFramePr>
        <p:xfrm>
          <a:off xmlns:a="http://schemas.openxmlformats.org/drawingml/2006/main" x="533400" y="2419350"/>
          <a:ext xmlns:a="http://schemas.openxmlformats.org/drawingml/2006/main" cx="111252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714500"/>
                <a:gridCol w="6553200"/>
              </a:tblGrid>
              <a:tr h="4508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Flight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Site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2010-06-04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CCAFS SLC 40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2010-12-08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CCAFS SLC 40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2012-05-22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CCAFS SLC 40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2012-10-08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CCAFS SLC 40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2013-03-01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CCAFS SLC 40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2EA6E89-9A76-4BEE-AC28-2B4A6430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Historical Cape Canaveral names refer to naming changes around LC/SLC 40; six strings should not be interpreted as six independent physical launch sites.</a:t>
            </a:r>
          </a:p>
        </p:txBody>
      </p:sp>
    </p:spTree>
    <p:extLst>
      <p:ext uri="{BB962C8B-B14F-4D97-AF65-F5344CB8AC3E}">
        <p14:creationId xmlns:p14="http://schemas.microsoft.com/office/powerpoint/2010/main" val="3279600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CA262C5F-ED72-4CAB-993E-1468B72F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SQL RESULTS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5C394068-5E87-43DD-9D65-DB19CBC1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SQL results: payload and mission launch success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2E445EC-18B0-4E6A-A8B4-D83488FB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AB4BF6B8-E5D8-48B7-8DDB-EA9653B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DAE7E-7BCF-48AD-A33A-8A6D8051AF71}"/>
              </a:ext>
            </a:extLst>
          </p:cNvPr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43350"/>
                <a:gridCol w="2895600"/>
                <a:gridCol w="4286250"/>
              </a:tblGrid>
              <a:tr h="63246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Query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Sample detail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NASA CRS total payload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59,941 kg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22 launches; all 22 masses known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Falcon 9 v1.1 average payload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2,534.7 kg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 launches; all 15 masses known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Mission launch outcome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120 success / 2 other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122 scraped launches; 98.4% success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First successful ground landing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2015-12-22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MIN(Date) where ground landing succeeds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AD9BFEF-3430-4912-9E81-C68C6717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Mission launch success differs from booster landing success. Unknown masses stay NULL in SQL; these aggregates are sums and means of reported masses.</a:t>
            </a:r>
          </a:p>
        </p:txBody>
      </p:sp>
    </p:spTree>
    <p:extLst>
      <p:ext uri="{BB962C8B-B14F-4D97-AF65-F5344CB8AC3E}">
        <p14:creationId xmlns:p14="http://schemas.microsoft.com/office/powerpoint/2010/main" val="9202989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2B1A63D0-7D53-4922-9948-DF339DBE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SQL RESULTS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09BE57C8-3438-414D-AA0B-3D421DF3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SQL results: drone landings with 4,000-6,000 kg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0E1CB2E-D944-4D42-80A5-EC77EFE9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3582F8ED-1845-433D-8E34-EAA471EC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34CD2-2191-4EBE-AD22-FB5950E173E1}"/>
              </a:ext>
            </a:extLst>
          </p:cNvPr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5524500"/>
                <a:gridCol w="2857500"/>
              </a:tblGrid>
              <a:tr h="32038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Booster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Payload kg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</a:tr>
              <a:tr h="320386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2016-05-06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FT B1022.1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4696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320386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2016-08-14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FT B1026.1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4600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320386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2017-03-30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FT B1021.2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5300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320386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2017-10-11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FT B1031.2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5200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320386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2018-08-07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B1046.2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5800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320386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2018-11-15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B1047.2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5300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320386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2019-02-22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B1048.3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4850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320386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2020-06-30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B1060.1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4311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320386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2020-11-05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B1062.1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4311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320386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2021-01-24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B1058.5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D85DA46-7199-44EF-8F89-20C65E17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Ten successful drone-ship landings satisfy the strict payload bounds (&gt;4,000 and &lt;6,000 kg) in the scraped sample.</a:t>
            </a:r>
          </a:p>
        </p:txBody>
      </p:sp>
    </p:spTree>
    <p:extLst>
      <p:ext uri="{BB962C8B-B14F-4D97-AF65-F5344CB8AC3E}">
        <p14:creationId xmlns:p14="http://schemas.microsoft.com/office/powerpoint/2010/main" val="15903869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CF982B31-2586-4AB2-B15A-398F2BF9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SQL RESULTS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962F8DA-C62B-43A8-8C0A-BBD7A779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SQL results: maximum payload boosters (1/3)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7FF9FB2-9DF4-4A61-849D-4766FA35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B5DC1315-EA09-46C3-A16B-F8BCA82E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75D43-20CD-4521-A8C2-063B9B672DD4}"/>
              </a:ext>
            </a:extLst>
          </p:cNvPr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10200"/>
                <a:gridCol w="2857500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Booster version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Payload kg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2019-11-11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B1048.4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2020-01-07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B1049.4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2020-01-29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B1051.3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2020-02-17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B1056.4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2020-03-18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B1048.5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2020-04-22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B1051.4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2020-06-04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B1049.5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2020-09-03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B1060.2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96B1C91-1402-4E6A-8EC8-14695F06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All 24 records tie at the maximum reported payload of 15,600 kg. The query returns every tie; unknown masses are excluded by SQL MAX.</a:t>
            </a:r>
          </a:p>
        </p:txBody>
      </p:sp>
    </p:spTree>
    <p:extLst>
      <p:ext uri="{BB962C8B-B14F-4D97-AF65-F5344CB8AC3E}">
        <p14:creationId xmlns:p14="http://schemas.microsoft.com/office/powerpoint/2010/main" val="11710992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DCDDB9AC-AD39-48C0-9FB1-5810F22A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SQL RESULTS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94027B8-9449-4980-BE51-C1BB6B25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SQL results: maximum payload boosters (2/3)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17E0EC5-03A6-4495-A00B-3EE0ACD9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4E7F5D46-646A-4567-9DE2-E55B6F98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B264D-5209-4ECE-A5A9-FC672FA80EFE}"/>
              </a:ext>
            </a:extLst>
          </p:cNvPr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10200"/>
                <a:gridCol w="2857500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Booster version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Payload kg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2020-10-06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B1058.3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2020-10-18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B1051.6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2020-10-24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B1060.3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2020-11-25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B1049.7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2021-01-20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B1051.8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2021-02-04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B1060.5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2021-02-16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B1059.6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2021-03-04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B1049.8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2C435A5-F820-48FD-9581-E8706BB8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All 24 records tie at the maximum reported payload of 15,600 kg. The query returns every tie; unknown masses are excluded by SQL MAX.</a:t>
            </a:r>
          </a:p>
        </p:txBody>
      </p:sp>
    </p:spTree>
    <p:extLst>
      <p:ext uri="{BB962C8B-B14F-4D97-AF65-F5344CB8AC3E}">
        <p14:creationId xmlns:p14="http://schemas.microsoft.com/office/powerpoint/2010/main" val="10991420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739B1C4E-398F-4F03-AF46-EFA85991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SQL RESULTS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9A33BF8-8351-440A-B11F-A326C2DB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SQL results: maximum payload boosters (3/3)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8D2864A-F739-4E7A-8D96-2E0AC408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DD516A8F-D0F8-4CEB-8A1A-057320CB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0589B-B2B1-4917-B036-C2DF391ACE1B}"/>
              </a:ext>
            </a:extLst>
          </p:cNvPr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10200"/>
                <a:gridCol w="2857500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Booster version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Payload kg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2021-03-11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B1058.6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2021-03-14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B1051.9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2021-03-24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B1060.6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2021-04-07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B1058.7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2021-04-29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B1060.7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2021-05-04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B1049.9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2021-05-09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B1051.10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2021-05-26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B5 B1063.2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DC9F812-ED09-4BB0-A694-3F33B26F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All 24 records tie at the maximum reported payload of 15,600 kg. The query returns every tie; unknown masses are excluded by SQL MAX.</a:t>
            </a:r>
          </a:p>
        </p:txBody>
      </p:sp>
    </p:spTree>
    <p:extLst>
      <p:ext uri="{BB962C8B-B14F-4D97-AF65-F5344CB8AC3E}">
        <p14:creationId xmlns:p14="http://schemas.microsoft.com/office/powerpoint/2010/main" val="4513352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D5459E5E-515A-47F1-8F5E-AD48BCEE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SQL RESULTS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17CDD6B6-6455-445F-BACB-4350BBC2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SQL results: 2015 failures and landing rankings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2A91AF1-C219-4E8D-9861-92B9D470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CCF3D919-38AD-40DB-8985-ECB5BB02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E20D7-8FCF-45C8-8932-06FF002CAC8F}"/>
              </a:ext>
            </a:extLst>
          </p:cNvPr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1447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429000"/>
                <a:gridCol w="5600700"/>
              </a:tblGrid>
              <a:tr h="4826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2015 month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Booster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Site / landing result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January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v1.1 B1012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Cape Canaveral LC 40 | failed drone landing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April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F9 v1.1 B1015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Cape Canaveral LC 40 | failed drone landing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A875B-F6A5-401E-8D34-72A97CCC0C4F}"/>
              </a:ext>
            </a:extLst>
          </p:cNvPr>
          <p:cNvGraphicFramePr/>
          <p:nvPr/>
        </p:nvGraphicFramePr>
        <p:xfrm>
          <a:off xmlns:a="http://schemas.openxmlformats.org/drawingml/2006/main" x="533400" y="3352800"/>
          <a:ext xmlns:a="http://schemas.openxmlformats.org/drawingml/2006/main" cx="11125200" cy="241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19500"/>
                <a:gridCol w="4648200"/>
              </a:tblGrid>
              <a:tr h="30241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Landing result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Landing type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 (2010-06-04 to 2017-03-20)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</a:tr>
              <a:tr h="30241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No attempt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Other / no attempt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30241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Failure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Drone ship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30241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Other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Ocean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30241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Success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Drone ship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30241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Success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Ground pad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30241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Failure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Other / no attempt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30241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Other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Drone ship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7664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8CA6A583-594A-4CE5-8EE0-EF00D023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SQL RESULTS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68CA233-7A08-41FE-9FAF-953C6EEA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SQL results: landing rates by historical site name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1B3C3FA-951F-4874-BB79-3FD4BD2C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B6BA5EFF-703B-4007-852A-72473348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EF71F-A0DE-4FC2-8229-B2E4B765DF43}"/>
              </a:ext>
            </a:extLst>
          </p:cNvPr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48200"/>
                <a:gridCol w="1714500"/>
                <a:gridCol w="2571750"/>
                <a:gridCol w="2190750"/>
              </a:tblGrid>
              <a:tr h="50074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Site string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Launches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Successful landings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 rate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Cape Canaveral SLC 40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CCSFS SLC 40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91.7%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KSC LC 39A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84.8%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VAFB SLC 4E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62.5%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CCAFS SLC 40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60%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Cape Canaveral LC 40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30%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2727BD7-1B81-41B7-8151-86EFCAF7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Cape Canaveral aliases and sample sizes affect these rankings. The 100% group contains one launch; normalize aliases and control for era before drawing a site-performance conclusion.</a:t>
            </a:r>
          </a:p>
        </p:txBody>
      </p:sp>
    </p:spTree>
    <p:extLst>
      <p:ext uri="{BB962C8B-B14F-4D97-AF65-F5344CB8AC3E}">
        <p14:creationId xmlns:p14="http://schemas.microsoft.com/office/powerpoint/2010/main" val="15004410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76123C45-20CB-4370-AC0C-DC1D9571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INTERACTIVE ANALYTICS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7E25AB9B-9A1E-44FE-A631-01B24F8F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Folium results: launch-site markers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FB62D4F-DC51-4BFB-AB3C-A2D4C4D6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DE69A497-D9FB-4F2A-B649-93096D13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514FF-3923-44B5-A8C6-355EC35994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854d50caf4564"/>
          <a:stretch xmlns:a="http://schemas.openxmlformats.org/drawingml/2006/main"/>
        </p:blipFill>
        <p:spPr>
          <a:xfrm xmlns:a="http://schemas.openxmlformats.org/drawingml/2006/main">
            <a:off x="1054557" y="1428750"/>
            <a:ext cx="5187037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1125589-A74A-4E7A-9CE9-E8F614CA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Four historical site labels map to the Florida and California coasts. Nearby Florida markers overlap at national scale.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5B7F19E-FF51-41D8-860B-F1B413BB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Markers provide site names and coordinates. Coastal geography is consistent with ocean-oriented launch corridors, but this map does not model safety constraints.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D457262-D448-477F-969A-C0DA7B4D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386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Interactive output: maps/launch_sites.html</a:t>
            </a:r>
          </a:p>
        </p:txBody>
      </p:sp>
    </p:spTree>
    <p:extLst>
      <p:ext uri="{BB962C8B-B14F-4D97-AF65-F5344CB8AC3E}">
        <p14:creationId xmlns:p14="http://schemas.microsoft.com/office/powerpoint/2010/main" val="144623984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FD254852-F3AA-4820-8C70-CF2B100F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INTERACTIVE ANALYTICS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4165741C-5042-4E00-9B7E-E8188D25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Folium results: explore landing records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27E760A-7BF9-4260-B007-2DA179FB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98904523-5B21-4B5D-A3EF-545AC122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DA476-58FB-456A-83E6-9A812AD87C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9649899354be7"/>
          <a:stretch xmlns:a="http://schemas.openxmlformats.org/drawingml/2006/main"/>
        </p:blipFill>
        <p:spPr>
          <a:xfrm xmlns:a="http://schemas.openxmlformats.org/drawingml/2006/main">
            <a:off x="1054557" y="1428750"/>
            <a:ext cx="5187037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F95C75D-2476-442C-A302-F55B95AB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MarkerCluster holds 56 launch records. Green marks Class 1; red marks Class 0.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462F561-5668-4308-8A65-6E6FDAF7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Expanding a cluster separates coincident records. A popup shows flight number, date, site and outcome, enabling launch-by-launch exploration.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D77B4EA-F51E-401A-BA20-87168CA8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386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Interactive output: maps/launch_records.html</a:t>
            </a:r>
          </a:p>
        </p:txBody>
      </p:sp>
    </p:spTree>
    <p:extLst>
      <p:ext uri="{BB962C8B-B14F-4D97-AF65-F5344CB8AC3E}">
        <p14:creationId xmlns:p14="http://schemas.microsoft.com/office/powerpoint/2010/main" val="179538554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9AD4D37D-362B-4D07-8132-2F822FEA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INTERACTIVE ANALYTICS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632652F-399B-4DF0-B902-6CA52972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Folium results: measured site proximity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CE47B1E-36E6-43FB-8795-FE9CC38F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7B52B572-DE4C-4525-83A9-31E52D82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33122-C0A1-4963-86D6-3F635F323C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7a7e629fd46d7"/>
          <a:stretch xmlns:a="http://schemas.openxmlformats.org/drawingml/2006/main"/>
        </p:blipFill>
        <p:spPr>
          <a:xfrm xmlns:a="http://schemas.openxmlformats.org/drawingml/2006/main">
            <a:off x="1054557" y="1428750"/>
            <a:ext cx="5187037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043F86F-872A-476F-93E1-D3660888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CCAFS SLC-40 to mapped coastline: 0.858 km. To nearest rail: about 0.1 m; road: about 23 m.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62B17F9-A8CA-46BD-ADD4-4DA83796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Distances project onto OSM segments within the documented bounding box, then use WGS84 geodesics. They are approximate and depend on map geometry.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EA6DD31-AFD3-4744-8176-A6BB0C16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386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Onsite transporter rails and service roads count. These distances do not establish access to public rail or major highways.</a:t>
            </a:r>
          </a:p>
        </p:txBody>
      </p:sp>
    </p:spTree>
    <p:extLst>
      <p:ext uri="{BB962C8B-B14F-4D97-AF65-F5344CB8AC3E}">
        <p14:creationId xmlns:p14="http://schemas.microsoft.com/office/powerpoint/2010/main" val="9996920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A184F4C2-ACFB-4AD5-BEFC-D37A009B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DASH DASHBOARD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45AC49D-4026-455B-8F54-C59F766A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Dash results: each site's share of successes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843F423-78E8-409E-AD62-F8985270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159B4E27-F301-4CB2-8AE3-D504B217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19AF1-3F31-42ED-8BAC-61D9990679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e83d0c1ee4731"/>
          <a:stretch xmlns:a="http://schemas.openxmlformats.org/drawingml/2006/main"/>
        </p:blipFill>
        <p:spPr>
          <a:xfrm xmlns:a="http://schemas.openxmlformats.org/drawingml/2006/main">
            <a:off x="1056075" y="1428750"/>
            <a:ext cx="5184001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D22EA6B-2B7F-493E-84FA-D9DD88C8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Across the 56-launch sample, 24 launches have Class 1 labels. KSC contributes 10/24 successes (41.7%), the largest share.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7A5BD4D-306A-4269-92DA-EDE4EC8E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CCAFS LC-40: 7/24 (29.2%); VAFB: 4/24 (16.7%); CCAFS SLC-40: 3/24 (12.5%).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3FC54A1-B77E-4948-B481-989DF11C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386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Share of successes is different from success rate: the denominator here is all 24 successes, not all launches at a site.</a:t>
            </a:r>
          </a:p>
        </p:txBody>
      </p:sp>
    </p:spTree>
    <p:extLst>
      <p:ext uri="{BB962C8B-B14F-4D97-AF65-F5344CB8AC3E}">
        <p14:creationId xmlns:p14="http://schemas.microsoft.com/office/powerpoint/2010/main" val="8956197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E5B7C97B-9396-4107-B7D4-B5CFB289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DASH DASHBOARD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214B6277-B1F4-4D1A-8EC0-E85AA2DC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Dash results: selected-site success rate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6CE7FBB-14ED-47B4-B9DB-E8DB8128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8E049780-DDBA-4280-8997-D7B0C077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C5DC7-8EE4-48B1-9F5D-6403D2C651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90eb5b89c45e6"/>
          <a:stretch xmlns:a="http://schemas.openxmlformats.org/drawingml/2006/main"/>
        </p:blipFill>
        <p:spPr>
          <a:xfrm xmlns:a="http://schemas.openxmlformats.org/drawingml/2006/main">
            <a:off x="1056075" y="1428750"/>
            <a:ext cx="5184001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3D42BA3-D762-4945-8D4C-C6A77955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Selecting KSC LC-39A updates the pie to within-site outcomes: 10 successes from 13 launches (76.9%).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77A9EFA-BF1D-4A38-A2EA-DD7613D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The other 3 launches have Class 0 labels (23.1%). The payload scatter simultaneously filters to KSC records.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4BB8C7A-2183-40AB-82FE-7F7D2A82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386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Interactive controls support comparing sites. The rate still reflects historical mission mix and launch era.</a:t>
            </a:r>
          </a:p>
        </p:txBody>
      </p:sp>
    </p:spTree>
    <p:extLst>
      <p:ext uri="{BB962C8B-B14F-4D97-AF65-F5344CB8AC3E}">
        <p14:creationId xmlns:p14="http://schemas.microsoft.com/office/powerpoint/2010/main" val="201054385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78AEAC7E-0582-48AF-9DB5-53A67279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DASH DASHBOARD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07B733E9-60F0-44E7-9A39-4254FFDC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Dash results: filter payload and outcome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2C81682-0CC6-4382-A8C1-749F84A0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B2901E01-55D5-4797-802F-667820AF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26C1A-4EE6-40D2-B805-2446E8184B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84aaa8da94e33"/>
          <a:stretch xmlns:a="http://schemas.openxmlformats.org/drawingml/2006/main"/>
        </p:blipFill>
        <p:spPr>
          <a:xfrm xmlns:a="http://schemas.openxmlformats.org/drawingml/2006/main">
            <a:off x="1056075" y="1428750"/>
            <a:ext cx="5184001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69A4525-4DA7-45E3-AC5C-2B24B0FD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At KSC, setting payload to 2,000-6,000 kg shows 11 launches. The scatter displays payload mass versus landing Class 0/1.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5B1709C-EC85-46A5-B110-8AE729A3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Booster-version colors expose changes in configuration. Hover details include site and flight number.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F1C70E9-D7E8-49C0-8766-C1028EBA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386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RangeSlider and dropdown callbacks are implemented in scripts/spacex_dash_app.py. Success and class-0 masses overlap.</a:t>
            </a:r>
          </a:p>
        </p:txBody>
      </p:sp>
    </p:spTree>
    <p:extLst>
      <p:ext uri="{BB962C8B-B14F-4D97-AF65-F5344CB8AC3E}">
        <p14:creationId xmlns:p14="http://schemas.microsoft.com/office/powerpoint/2010/main" val="150898411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FE8218EA-6717-440F-90BB-5FCA81F3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4172E27-B5EF-47F2-BABE-6F98D9A4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Predictive analysis: preprocessing and evaluation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689F056-C13C-4066-96E4-CD11E9BA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https://github.com/giusdp45/spacex-landing-capstone/blob/main/notebooks/07_Predictive_Analysis.ipynb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1E32E1FB-FE86-4BCB-BF7F-A42BE171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7D7DF99-9D14-450E-9245-1CB590C3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Predictors: FlightNumber, PayloadMass, Flights, Block, Orbit, LaunchSite, GridFins, Reused and Legs. Numeric fields use fold-level median imputation and scaling; categories use imputation and one-hot encoding.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BB9AED2-29AD-498B-87B9-78F316AA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Stratified random split: 72 training and 18 test launches (12 positives, 6 negatives). GridSearchCV tunes Logistic Regression, SVM, Decision Tree and KNN with five training folds; choose the family with highest CV accuracy.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256329D-A5FC-43A2-8177-D756CB60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1125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Report held-out accuracy, balanced accuracy, precision, recall, F1 and confusion matrix. Independently test a chronological split with TimeSeriesSplit to examine temporal shift and the era proxy.</a:t>
            </a:r>
          </a:p>
        </p:txBody>
      </p:sp>
    </p:spTree>
    <p:extLst>
      <p:ext uri="{BB962C8B-B14F-4D97-AF65-F5344CB8AC3E}">
        <p14:creationId xmlns:p14="http://schemas.microsoft.com/office/powerpoint/2010/main" val="101292650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8673ADBB-4A8E-4370-8DF0-0615B7DA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1F624DE4-C2A6-4D04-992A-65AA59B5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Four classifiers: cross-validation and held-out test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B46E928-79A6-413F-AB56-179DA377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B5EBC951-70C4-4C8C-B764-B4E13673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7FF103A-9376-4C26-BD11-68260302CA5A}"/>
              </a:ext>
            </a:extLst>
          </p:cNvPr>
          <p:cNvGraphicFramePr/>
          <p:nvPr/>
        </p:nvGraphicFramePr>
        <p:xfrm>
          <a:off xmlns:a="http://schemas.openxmlformats.org/drawingml/2006/main" x="533400" y="14859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b4d8bcc1064cba"/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6C2046E-E956-415D-A7A1-29B2BFBB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SVM leads training CV at 88.9% (fold SD 6.9 points), so it is the selected model. Decision Tree has the highest random-split test accuracy (83.3%), but test data are not used to choose the winner.</a:t>
            </a:r>
          </a:p>
        </p:txBody>
      </p:sp>
    </p:spTree>
    <p:extLst>
      <p:ext uri="{BB962C8B-B14F-4D97-AF65-F5344CB8AC3E}">
        <p14:creationId xmlns:p14="http://schemas.microsoft.com/office/powerpoint/2010/main" val="187606811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7EA5A25C-941D-4E4B-959E-A0514F05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7D9A6DA9-52A4-41D5-A534-69B6F9CA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Selected SVM: confusion matrix and limitations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9933C99-1F18-4A60-B55E-C104C0C0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453BA294-C9EC-4F48-AB6F-3A5C7ECE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A34C3-90FC-4944-9FE0-A747048F47E4}"/>
              </a:ext>
            </a:extLst>
          </p:cNvPr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7143750" cy="241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286000"/>
                <a:gridCol w="2286000"/>
              </a:tblGrid>
              <a:tr h="806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/ predicted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Class 0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Class 1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Actual Class 0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 true negatives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4 false positives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Actual Class 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0 false negatives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12 true positives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4507508-8EB7-4B41-85C1-4954DACD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36385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Accuracy: 77.8%</a:t>
            </a:r>
          </a:p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Balanced accuracy: 66.7%</a:t>
            </a:r>
          </a:p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Precision: 75.0%</a:t>
            </a:r>
          </a:p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Recall: 100.0%</a:t>
            </a:r>
          </a:p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F1: 85.7%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E21157D-D74C-4FFD-82F9-AA77E159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RBF SVM (C=1, gamma=scale) detects all 12 successes, but predicts success for four of six class-0 launches. It beats the 66.7% majority baseline in accuracy, with weak negative-class recall.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4170D4F-7612-4D10-B75C-4F06C77A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With 18 test launches, one changed prediction moves accuracy by 5.6 percentage points. More validation data are needed.</a:t>
            </a:r>
          </a:p>
        </p:txBody>
      </p:sp>
    </p:spTree>
    <p:extLst>
      <p:ext uri="{BB962C8B-B14F-4D97-AF65-F5344CB8AC3E}">
        <p14:creationId xmlns:p14="http://schemas.microsoft.com/office/powerpoint/2010/main" val="47229302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A16B43B4-61AA-482D-B063-59E529AC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MODEL VALIDATION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3052027A-F43A-483B-BB66-59A4D6DC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Additional insight: test forward in time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4B4C9FC-C668-49B4-ABB2-85E4CC72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802D68CA-6CBA-474A-8032-942E9142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8D219-89D2-4108-B7D4-878CE678AF3E}"/>
              </a:ext>
            </a:extLst>
          </p:cNvPr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10100"/>
                <a:gridCol w="6515100"/>
              </a:tblGrid>
              <a:tr h="568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Temporal evaluation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14300" marR="114300" marT="47625" marB="47625" anchor="ctr">
                    <a:solidFill>
                      <a:srgbClr val="172554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First 72 launches; 3-fold TimeSeriesSplit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Held-out data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Last 18 launches; from 2020-01-19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Selected family / training CV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Decision Tree / 77.8%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Temporal held-out accuracy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88.9% (16 of 18)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Always-predict-success baseline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83.3% (15 of 18)</a:t>
                      </a:r>
                    </a:p>
                  </a:txBody>
                  <a:tcPr marL="114300" marR="114300" marT="47625" marB="47625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4565069-362C-4A05-9AA1-C0CB9A71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The temporal model gains one correct prediction over its baseline. Later launches are more often successful; high accuracy can partly reflect this shift. This supports forward validation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56722602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CF670F5D-7EB6-4DC4-9785-1A524D38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1FF20CC-7B6F-47CC-978A-0E0614C1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Conclusions and a practical next step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5A83F74-29B3-4A96-B291-032FE51B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111E74AF-87D5-4E0A-9C03-FE8F89F9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E011F17-5B66-4BBB-BEE6-59DE34AD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Historical landing outcomes improve with launch era, while site, orbit and payload show useful descriptive associations. These patterns are not isolated causal effects.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7556F0B-E642-4C70-ACDC-85D6EF9D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67025"/>
            <a:ext cx="11125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SVM is best by random-split training CV. Its false-positive pattern limits confident success predictions. Temporal results add useful context but only a small improvement over the majority baseline.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2BC83E8-BF8F-4128-AAC0-4B7243B2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11125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Next: collect recent launches, separate attempted landings from no attempt, use a recovery-for-reuse target, normalize site aliases, validate on future periods and calibrate probabilities before using them in cost scenarios.</a:t>
            </a:r>
          </a:p>
        </p:txBody>
      </p:sp>
    </p:spTree>
    <p:extLst>
      <p:ext uri="{BB962C8B-B14F-4D97-AF65-F5344CB8AC3E}">
        <p14:creationId xmlns:p14="http://schemas.microsoft.com/office/powerpoint/2010/main" val="34655752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C337A360-363F-4027-B377-8E78F5AD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PROJECT INDEX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AFC09BD2-AE42-48AC-AB88-EE93824F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554"/>
                </a:solidFill>
                <a:latin typeface="Arial"/>
                <a:ea typeface="Arial"/>
                <a:cs typeface="Arial"/>
              </a:rPr>
              <a:t>Reproducibility: project files and sources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B040EAD-0FC1-45F9-AF68-01A9448F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https://github.com/giusdp45/spacex-landing-capstone</a:t>
            </a:r>
          </a:p>
        </p:txBody>
      </p:sp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4EC21EB6-3744-4CD3-9B51-C83EC285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4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C8CD6CC-6C7B-4A22-8D0F-80681E9F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GitHub project: https://github.com/giusdp45/spacex-landing-capstone</a:t>
            </a:r>
          </a:p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notebooks/: seven executed notebooks. scripts/: API, scraping, SQL, EDA, maps and dashboard code.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76ABE6D-14BC-45F0-A0B9-6EF3B9BD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1125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data/: official course snapshots, scraped table, SQLite database, SQL result CSVs, model metrics and source manifest. maps/: interactive HTML. figures/: plots and real browser screenshots.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5F79694-5BC4-4E3F-B0A0-F3DBB3FE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1125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Sources: IBM DS0321 course datasets; SpaceX API v4 documentation; Wikipedia fixed revision 1027686922; OpenStreetMap contributors (ODbL). Source URLs are documented in README and slide notes.</a:t>
            </a:r>
          </a:p>
        </p:txBody>
      </p:sp>
    </p:spTree>
    <p:extLst>
      <p:ext uri="{BB962C8B-B14F-4D97-AF65-F5344CB8AC3E}">
        <p14:creationId xmlns:p14="http://schemas.microsoft.com/office/powerpoint/2010/main" val="2078082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2026-10-11T10:35:08.6670000Z</dcterms:created>
  <dcterms:modified xsi:type="dcterms:W3CDTF">2026-10-11T10:35:08.6670000Z</dcterms:modified>
</coreProperties>
</file>